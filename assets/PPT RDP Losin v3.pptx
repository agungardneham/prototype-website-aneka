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ptos Bold" panose="020B0604020202020204" charset="0"/>
      <p:regular r:id="rId8"/>
    </p:embeddedFont>
    <p:embeddedFont>
      <p:font typeface="Aptos Bold Italics" panose="020B0604020202020204" charset="0"/>
      <p:regular r:id="rId9"/>
    </p:embeddedFont>
    <p:embeddedFont>
      <p:font typeface="Aptos Italics" panose="020B0604020202020204" charset="0"/>
      <p:regular r:id="rId10"/>
    </p:embeddedFont>
    <p:embeddedFont>
      <p:font typeface="Arial Bold" panose="020B0704020202020204" pitchFamily="34" charset="0"/>
      <p:regular r:id="rId11"/>
      <p:bold r:id="rId12"/>
    </p:embeddedFont>
    <p:embeddedFont>
      <p:font typeface="Maven Pr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1DD30-C221-46EA-80CF-B517F5580975}" type="datetimeFigureOut">
              <a:rPr lang="en-ID" smtClean="0"/>
              <a:t>11/11/2025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C0AD6A-9391-458A-8E17-810495B4B7E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4344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C0AD6A-9391-458A-8E17-810495B4B7E8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7203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17.jpe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15088" y="622852"/>
            <a:ext cx="5457825" cy="1181100"/>
            <a:chOff x="0" y="0"/>
            <a:chExt cx="7277100" cy="157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77100" cy="1574800"/>
            </a:xfrm>
            <a:custGeom>
              <a:avLst/>
              <a:gdLst/>
              <a:ahLst/>
              <a:cxnLst/>
              <a:rect l="l" t="t" r="r" b="b"/>
              <a:pathLst>
                <a:path w="7277100" h="1574800">
                  <a:moveTo>
                    <a:pt x="0" y="0"/>
                  </a:moveTo>
                  <a:lnTo>
                    <a:pt x="7277100" y="0"/>
                  </a:lnTo>
                  <a:lnTo>
                    <a:pt x="7277100" y="1574800"/>
                  </a:lnTo>
                  <a:lnTo>
                    <a:pt x="0" y="157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1987826"/>
            <a:ext cx="7424598" cy="8299175"/>
            <a:chOff x="0" y="0"/>
            <a:chExt cx="9899464" cy="110655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899523" cy="11065510"/>
            </a:xfrm>
            <a:custGeom>
              <a:avLst/>
              <a:gdLst/>
              <a:ahLst/>
              <a:cxnLst/>
              <a:rect l="l" t="t" r="r" b="b"/>
              <a:pathLst>
                <a:path w="9899523" h="11065510">
                  <a:moveTo>
                    <a:pt x="0" y="0"/>
                  </a:moveTo>
                  <a:lnTo>
                    <a:pt x="9899523" y="0"/>
                  </a:lnTo>
                  <a:lnTo>
                    <a:pt x="9899523" y="11065510"/>
                  </a:lnTo>
                  <a:lnTo>
                    <a:pt x="0" y="110655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10275117"/>
            <a:chOff x="0" y="0"/>
            <a:chExt cx="24384000" cy="13700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3700125"/>
            </a:xfrm>
            <a:custGeom>
              <a:avLst/>
              <a:gdLst/>
              <a:ahLst/>
              <a:cxnLst/>
              <a:rect l="l" t="t" r="r" b="b"/>
              <a:pathLst>
                <a:path w="24384000" h="13700125">
                  <a:moveTo>
                    <a:pt x="0" y="0"/>
                  </a:moveTo>
                  <a:lnTo>
                    <a:pt x="24384000" y="0"/>
                  </a:lnTo>
                  <a:lnTo>
                    <a:pt x="24384000" y="13700125"/>
                  </a:lnTo>
                  <a:lnTo>
                    <a:pt x="0" y="137001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0999"/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8083886"/>
            <a:ext cx="18288000" cy="1463018"/>
            <a:chOff x="0" y="0"/>
            <a:chExt cx="24384000" cy="1950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1950720"/>
            </a:xfrm>
            <a:custGeom>
              <a:avLst/>
              <a:gdLst/>
              <a:ahLst/>
              <a:cxnLst/>
              <a:rect l="l" t="t" r="r" b="b"/>
              <a:pathLst>
                <a:path w="24384000" h="1950720">
                  <a:moveTo>
                    <a:pt x="0" y="0"/>
                  </a:moveTo>
                  <a:lnTo>
                    <a:pt x="24384000" y="0"/>
                  </a:lnTo>
                  <a:lnTo>
                    <a:pt x="2438400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D0CECE">
                <a:alpha val="25098"/>
              </a:srgbClr>
            </a:solidFill>
          </p:spPr>
        </p:sp>
      </p:grpSp>
      <p:sp>
        <p:nvSpPr>
          <p:cNvPr id="10" name="AutoShape 10"/>
          <p:cNvSpPr/>
          <p:nvPr/>
        </p:nvSpPr>
        <p:spPr>
          <a:xfrm rot="152738">
            <a:off x="2071309" y="9721068"/>
            <a:ext cx="857812" cy="0"/>
          </a:xfrm>
          <a:prstGeom prst="line">
            <a:avLst/>
          </a:prstGeom>
          <a:ln w="19050" cap="rnd">
            <a:solidFill>
              <a:srgbClr val="6A849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152738">
            <a:off x="15397504" y="9721068"/>
            <a:ext cx="857812" cy="0"/>
          </a:xfrm>
          <a:prstGeom prst="line">
            <a:avLst/>
          </a:prstGeom>
          <a:ln w="19050" cap="rnd">
            <a:solidFill>
              <a:srgbClr val="6A849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487252" y="4675871"/>
            <a:ext cx="11837897" cy="62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6A8492"/>
                </a:solidFill>
                <a:latin typeface="Arial"/>
                <a:ea typeface="Arial"/>
                <a:cs typeface="Arial"/>
                <a:sym typeface="Arial"/>
              </a:rPr>
              <a:t>Direktorat Jenderal Industri Kecil, Menengah dan Aneka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8902" y="8357314"/>
            <a:ext cx="14946284" cy="89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6A8492"/>
                </a:solidFill>
                <a:latin typeface="Arial Bold"/>
                <a:ea typeface="Arial Bold"/>
                <a:cs typeface="Arial Bold"/>
                <a:sym typeface="Arial Bold"/>
              </a:rPr>
              <a:t>DISAMPAIKAN DALAM RAPAT DENGAR PENDAPAT KOMISI VII DPR RI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6A8492"/>
                </a:solidFill>
                <a:latin typeface="Arial"/>
                <a:ea typeface="Arial"/>
                <a:cs typeface="Arial"/>
                <a:sym typeface="Arial"/>
              </a:rPr>
              <a:t>13 November 2025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87252" y="3140381"/>
            <a:ext cx="16129586" cy="134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KEBIJAKAN PENINGKATAN DAYA SAING NASIONAL</a:t>
            </a:r>
          </a:p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000000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BAGI INDUSTRI KECIL MENENGAH DAN ANEKA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58245" y="0"/>
            <a:ext cx="2793340" cy="10287000"/>
            <a:chOff x="0" y="0"/>
            <a:chExt cx="372445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24402" cy="13716000"/>
            </a:xfrm>
            <a:custGeom>
              <a:avLst/>
              <a:gdLst/>
              <a:ahLst/>
              <a:cxnLst/>
              <a:rect l="l" t="t" r="r" b="b"/>
              <a:pathLst>
                <a:path w="3724402" h="13716000">
                  <a:moveTo>
                    <a:pt x="0" y="0"/>
                  </a:moveTo>
                  <a:lnTo>
                    <a:pt x="3724402" y="0"/>
                  </a:lnTo>
                  <a:lnTo>
                    <a:pt x="372440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65606"/>
            <a:ext cx="15494661" cy="10287000"/>
            <a:chOff x="0" y="0"/>
            <a:chExt cx="20659548" cy="13716000"/>
          </a:xfrm>
        </p:grpSpPr>
        <p:sp>
          <p:nvSpPr>
            <p:cNvPr id="5" name="Freeform 5" descr="A picture containing building, indoor, motorcycle, red  Description automatically generated"/>
            <p:cNvSpPr/>
            <p:nvPr/>
          </p:nvSpPr>
          <p:spPr>
            <a:xfrm>
              <a:off x="0" y="0"/>
              <a:ext cx="20659598" cy="13716000"/>
            </a:xfrm>
            <a:custGeom>
              <a:avLst/>
              <a:gdLst/>
              <a:ahLst/>
              <a:cxnLst/>
              <a:rect l="l" t="t" r="r" b="b"/>
              <a:pathLst>
                <a:path w="20659598" h="13716000">
                  <a:moveTo>
                    <a:pt x="0" y="0"/>
                  </a:moveTo>
                  <a:lnTo>
                    <a:pt x="20659598" y="0"/>
                  </a:lnTo>
                  <a:lnTo>
                    <a:pt x="2065959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0277" b="-424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8243" y="-65606"/>
            <a:ext cx="15494660" cy="10287000"/>
            <a:chOff x="0" y="0"/>
            <a:chExt cx="20659546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59598" cy="13716000"/>
            </a:xfrm>
            <a:custGeom>
              <a:avLst/>
              <a:gdLst/>
              <a:ahLst/>
              <a:cxnLst/>
              <a:rect l="l" t="t" r="r" b="b"/>
              <a:pathLst>
                <a:path w="20659598" h="13716000">
                  <a:moveTo>
                    <a:pt x="0" y="0"/>
                  </a:moveTo>
                  <a:lnTo>
                    <a:pt x="20659598" y="0"/>
                  </a:lnTo>
                  <a:lnTo>
                    <a:pt x="2065959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95959">
                <a:alpha val="82745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1075460"/>
            <a:ext cx="3054926" cy="692497"/>
            <a:chOff x="0" y="0"/>
            <a:chExt cx="4073234" cy="923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73271" cy="923290"/>
            </a:xfrm>
            <a:custGeom>
              <a:avLst/>
              <a:gdLst/>
              <a:ahLst/>
              <a:cxnLst/>
              <a:rect l="l" t="t" r="r" b="b"/>
              <a:pathLst>
                <a:path w="4073271" h="923290">
                  <a:moveTo>
                    <a:pt x="0" y="0"/>
                  </a:moveTo>
                  <a:lnTo>
                    <a:pt x="4073271" y="0"/>
                  </a:lnTo>
                  <a:lnTo>
                    <a:pt x="4073271" y="923290"/>
                  </a:lnTo>
                  <a:lnTo>
                    <a:pt x="0" y="923290"/>
                  </a:lnTo>
                  <a:close/>
                </a:path>
              </a:pathLst>
            </a:custGeom>
            <a:solidFill>
              <a:srgbClr val="FFFF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073234" cy="95190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r">
                <a:lnSpc>
                  <a:spcPts val="4320"/>
                </a:lnSpc>
              </a:pPr>
              <a:r>
                <a:rPr lang="en-US" sz="3600" b="1">
                  <a:solidFill>
                    <a:srgbClr val="2F559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OUTLINE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9069" y="4402078"/>
            <a:ext cx="701386" cy="779318"/>
            <a:chOff x="0" y="0"/>
            <a:chExt cx="935182" cy="10390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35228" cy="1039114"/>
            </a:xfrm>
            <a:custGeom>
              <a:avLst/>
              <a:gdLst/>
              <a:ahLst/>
              <a:cxnLst/>
              <a:rect l="l" t="t" r="r" b="b"/>
              <a:pathLst>
                <a:path w="935228" h="1039114">
                  <a:moveTo>
                    <a:pt x="0" y="0"/>
                  </a:moveTo>
                  <a:lnTo>
                    <a:pt x="779272" y="0"/>
                  </a:lnTo>
                  <a:lnTo>
                    <a:pt x="935228" y="155829"/>
                  </a:lnTo>
                  <a:lnTo>
                    <a:pt x="935228" y="1039114"/>
                  </a:lnTo>
                  <a:lnTo>
                    <a:pt x="0" y="1039114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450940" y="4477672"/>
            <a:ext cx="483648" cy="71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B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5622255" y="685578"/>
            <a:ext cx="2415888" cy="736130"/>
            <a:chOff x="0" y="0"/>
            <a:chExt cx="3221184" cy="9815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221228" cy="981456"/>
            </a:xfrm>
            <a:custGeom>
              <a:avLst/>
              <a:gdLst/>
              <a:ahLst/>
              <a:cxnLst/>
              <a:rect l="l" t="t" r="r" b="b"/>
              <a:pathLst>
                <a:path w="3221228" h="981456">
                  <a:moveTo>
                    <a:pt x="0" y="0"/>
                  </a:moveTo>
                  <a:lnTo>
                    <a:pt x="3221228" y="0"/>
                  </a:lnTo>
                  <a:lnTo>
                    <a:pt x="3221228" y="981456"/>
                  </a:lnTo>
                  <a:lnTo>
                    <a:pt x="0" y="981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0" r="1" b="-185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334954" y="7922455"/>
            <a:ext cx="13696161" cy="135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DIREKTORAT JENDERAL </a:t>
            </a:r>
          </a:p>
          <a:p>
            <a:pPr algn="r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INDUSTRI KECIL, MENENGAH DAN ANEKA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27238" y="2783301"/>
            <a:ext cx="12374762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rPr>
              <a:t>Gambaran Umum Kondisi IKM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65026" y="4346676"/>
            <a:ext cx="7585749" cy="97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Program Penumbuhan dan Pengembangan IKM Ditjen IKMA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82296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89069" y="5852933"/>
            <a:ext cx="701386" cy="779318"/>
            <a:chOff x="0" y="0"/>
            <a:chExt cx="935182" cy="10390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35228" cy="1039114"/>
            </a:xfrm>
            <a:custGeom>
              <a:avLst/>
              <a:gdLst/>
              <a:ahLst/>
              <a:cxnLst/>
              <a:rect l="l" t="t" r="r" b="b"/>
              <a:pathLst>
                <a:path w="935228" h="1039114">
                  <a:moveTo>
                    <a:pt x="0" y="0"/>
                  </a:moveTo>
                  <a:lnTo>
                    <a:pt x="779272" y="0"/>
                  </a:lnTo>
                  <a:lnTo>
                    <a:pt x="935228" y="155829"/>
                  </a:lnTo>
                  <a:lnTo>
                    <a:pt x="935228" y="1039114"/>
                  </a:lnTo>
                  <a:lnTo>
                    <a:pt x="0" y="1039114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466605" y="5874090"/>
            <a:ext cx="483648" cy="71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27238" y="5704536"/>
            <a:ext cx="1159774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rPr>
              <a:t>Upaya yang sudah dilakukan untuk peningkatan daya saing IKM dan Kerjasama yang sudah dilakukan dengan K/L dan market place 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375165" y="2794237"/>
            <a:ext cx="701386" cy="779318"/>
            <a:chOff x="0" y="0"/>
            <a:chExt cx="935182" cy="103909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35228" cy="1039114"/>
            </a:xfrm>
            <a:custGeom>
              <a:avLst/>
              <a:gdLst/>
              <a:ahLst/>
              <a:cxnLst/>
              <a:rect l="l" t="t" r="r" b="b"/>
              <a:pathLst>
                <a:path w="935228" h="1039114">
                  <a:moveTo>
                    <a:pt x="0" y="0"/>
                  </a:moveTo>
                  <a:lnTo>
                    <a:pt x="779272" y="0"/>
                  </a:lnTo>
                  <a:lnTo>
                    <a:pt x="935228" y="155829"/>
                  </a:lnTo>
                  <a:lnTo>
                    <a:pt x="935228" y="1039114"/>
                  </a:lnTo>
                  <a:lnTo>
                    <a:pt x="0" y="1039114"/>
                  </a:lnTo>
                  <a:close/>
                </a:path>
              </a:pathLst>
            </a:custGeom>
            <a:solidFill>
              <a:srgbClr val="404040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466605" y="2798394"/>
            <a:ext cx="483648" cy="71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58245" y="0"/>
            <a:ext cx="2793340" cy="10287000"/>
            <a:chOff x="0" y="0"/>
            <a:chExt cx="372445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24402" cy="13716000"/>
            </a:xfrm>
            <a:custGeom>
              <a:avLst/>
              <a:gdLst/>
              <a:ahLst/>
              <a:cxnLst/>
              <a:rect l="l" t="t" r="r" b="b"/>
              <a:pathLst>
                <a:path w="3724402" h="13716000">
                  <a:moveTo>
                    <a:pt x="0" y="0"/>
                  </a:moveTo>
                  <a:lnTo>
                    <a:pt x="3724402" y="0"/>
                  </a:lnTo>
                  <a:lnTo>
                    <a:pt x="372440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65606"/>
            <a:ext cx="15494661" cy="10287000"/>
            <a:chOff x="0" y="0"/>
            <a:chExt cx="20659548" cy="13716000"/>
          </a:xfrm>
        </p:grpSpPr>
        <p:sp>
          <p:nvSpPr>
            <p:cNvPr id="5" name="Freeform 5" descr="A picture containing building, indoor, motorcycle, red  Description automatically generated"/>
            <p:cNvSpPr/>
            <p:nvPr/>
          </p:nvSpPr>
          <p:spPr>
            <a:xfrm>
              <a:off x="0" y="0"/>
              <a:ext cx="20659598" cy="13716000"/>
            </a:xfrm>
            <a:custGeom>
              <a:avLst/>
              <a:gdLst/>
              <a:ahLst/>
              <a:cxnLst/>
              <a:rect l="l" t="t" r="r" b="b"/>
              <a:pathLst>
                <a:path w="20659598" h="13716000">
                  <a:moveTo>
                    <a:pt x="0" y="0"/>
                  </a:moveTo>
                  <a:lnTo>
                    <a:pt x="20659598" y="0"/>
                  </a:lnTo>
                  <a:lnTo>
                    <a:pt x="20659598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0277" b="-424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8243" y="-65606"/>
            <a:ext cx="18333342" cy="10287000"/>
            <a:chOff x="0" y="0"/>
            <a:chExt cx="24444456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44452" cy="13716000"/>
            </a:xfrm>
            <a:custGeom>
              <a:avLst/>
              <a:gdLst/>
              <a:ahLst/>
              <a:cxnLst/>
              <a:rect l="l" t="t" r="r" b="b"/>
              <a:pathLst>
                <a:path w="24444452" h="13716000">
                  <a:moveTo>
                    <a:pt x="0" y="0"/>
                  </a:moveTo>
                  <a:lnTo>
                    <a:pt x="24444452" y="0"/>
                  </a:lnTo>
                  <a:lnTo>
                    <a:pt x="2444445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95959">
                <a:alpha val="82745"/>
              </a:srgbClr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43" y="530940"/>
            <a:ext cx="13645299" cy="1246496"/>
            <a:chOff x="0" y="0"/>
            <a:chExt cx="18193732" cy="16619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193765" cy="1662049"/>
            </a:xfrm>
            <a:custGeom>
              <a:avLst/>
              <a:gdLst/>
              <a:ahLst/>
              <a:cxnLst/>
              <a:rect l="l" t="t" r="r" b="b"/>
              <a:pathLst>
                <a:path w="18193765" h="1662049">
                  <a:moveTo>
                    <a:pt x="0" y="0"/>
                  </a:moveTo>
                  <a:lnTo>
                    <a:pt x="18193765" y="0"/>
                  </a:lnTo>
                  <a:lnTo>
                    <a:pt x="18193765" y="1662049"/>
                  </a:lnTo>
                  <a:lnTo>
                    <a:pt x="0" y="1662049"/>
                  </a:lnTo>
                  <a:close/>
                </a:path>
              </a:pathLst>
            </a:custGeom>
            <a:solidFill>
              <a:srgbClr val="FFFF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8193732" cy="1661994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56082"/>
                  </a:solidFill>
                  <a:latin typeface="Aptos"/>
                  <a:ea typeface="Aptos"/>
                  <a:cs typeface="Aptos"/>
                  <a:sym typeface="Aptos"/>
                </a:rPr>
                <a:t>PROGRAM PENUMBUHAN DAN PENGEMBANGAN IKM DITJEN IKMA</a:t>
              </a:r>
            </a:p>
            <a:p>
              <a:pPr algn="l">
                <a:lnSpc>
                  <a:spcPts val="4320"/>
                </a:lnSpc>
              </a:pPr>
              <a:endParaRPr lang="en-US" sz="3600">
                <a:solidFill>
                  <a:srgbClr val="156082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6216" y="1160739"/>
            <a:ext cx="5468694" cy="600165"/>
            <a:chOff x="0" y="0"/>
            <a:chExt cx="7291592" cy="8002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91578" cy="800227"/>
            </a:xfrm>
            <a:custGeom>
              <a:avLst/>
              <a:gdLst/>
              <a:ahLst/>
              <a:cxnLst/>
              <a:rect l="l" t="t" r="r" b="b"/>
              <a:pathLst>
                <a:path w="7291578" h="800227">
                  <a:moveTo>
                    <a:pt x="0" y="0"/>
                  </a:moveTo>
                  <a:lnTo>
                    <a:pt x="7158228" y="0"/>
                  </a:lnTo>
                  <a:lnTo>
                    <a:pt x="7291578" y="133350"/>
                  </a:lnTo>
                  <a:lnTo>
                    <a:pt x="7291578" y="800227"/>
                  </a:lnTo>
                  <a:lnTo>
                    <a:pt x="0" y="800227"/>
                  </a:lnTo>
                  <a:close/>
                </a:path>
              </a:pathLst>
            </a:custGeom>
            <a:solidFill>
              <a:srgbClr val="40404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291592" cy="8002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KOMODITAS PERKAKAS TANGAN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8229600" cy="730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14288" y="5283956"/>
            <a:ext cx="3657600" cy="4677728"/>
            <a:chOff x="0" y="0"/>
            <a:chExt cx="4876800" cy="6236970"/>
          </a:xfrm>
        </p:grpSpPr>
        <p:sp>
          <p:nvSpPr>
            <p:cNvPr id="18" name="Freeform 18"/>
            <p:cNvSpPr/>
            <p:nvPr/>
          </p:nvSpPr>
          <p:spPr>
            <a:xfrm>
              <a:off x="18902" y="19050"/>
              <a:ext cx="4838995" cy="6198870"/>
            </a:xfrm>
            <a:custGeom>
              <a:avLst/>
              <a:gdLst/>
              <a:ahLst/>
              <a:cxnLst/>
              <a:rect l="l" t="t" r="r" b="b"/>
              <a:pathLst>
                <a:path w="4838995" h="6198870">
                  <a:moveTo>
                    <a:pt x="0" y="0"/>
                  </a:moveTo>
                  <a:lnTo>
                    <a:pt x="4838996" y="0"/>
                  </a:lnTo>
                  <a:lnTo>
                    <a:pt x="4838996" y="6198870"/>
                  </a:lnTo>
                  <a:lnTo>
                    <a:pt x="0" y="6198870"/>
                  </a:ln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4876800" cy="6236970"/>
            </a:xfrm>
            <a:custGeom>
              <a:avLst/>
              <a:gdLst/>
              <a:ahLst/>
              <a:cxnLst/>
              <a:rect l="l" t="t" r="r" b="b"/>
              <a:pathLst>
                <a:path w="4876800" h="6236970">
                  <a:moveTo>
                    <a:pt x="18902" y="0"/>
                  </a:moveTo>
                  <a:lnTo>
                    <a:pt x="4857898" y="0"/>
                  </a:lnTo>
                  <a:cubicBezTo>
                    <a:pt x="4868357" y="0"/>
                    <a:pt x="4876800" y="8509"/>
                    <a:pt x="4876800" y="19050"/>
                  </a:cubicBezTo>
                  <a:lnTo>
                    <a:pt x="4876800" y="6217920"/>
                  </a:lnTo>
                  <a:cubicBezTo>
                    <a:pt x="4876800" y="6228461"/>
                    <a:pt x="4868357" y="6236970"/>
                    <a:pt x="4857898" y="6236970"/>
                  </a:cubicBezTo>
                  <a:lnTo>
                    <a:pt x="18902" y="6236970"/>
                  </a:lnTo>
                  <a:cubicBezTo>
                    <a:pt x="8443" y="6236970"/>
                    <a:pt x="0" y="6228461"/>
                    <a:pt x="0" y="6217920"/>
                  </a:cubicBezTo>
                  <a:lnTo>
                    <a:pt x="0" y="19050"/>
                  </a:lnTo>
                  <a:cubicBezTo>
                    <a:pt x="0" y="8509"/>
                    <a:pt x="8443" y="0"/>
                    <a:pt x="18902" y="0"/>
                  </a:cubicBezTo>
                  <a:moveTo>
                    <a:pt x="18902" y="38100"/>
                  </a:moveTo>
                  <a:lnTo>
                    <a:pt x="18902" y="19050"/>
                  </a:lnTo>
                  <a:lnTo>
                    <a:pt x="37805" y="19050"/>
                  </a:lnTo>
                  <a:lnTo>
                    <a:pt x="37805" y="6217920"/>
                  </a:lnTo>
                  <a:lnTo>
                    <a:pt x="18902" y="6217920"/>
                  </a:lnTo>
                  <a:lnTo>
                    <a:pt x="18902" y="6198870"/>
                  </a:lnTo>
                  <a:lnTo>
                    <a:pt x="4857898" y="6198870"/>
                  </a:lnTo>
                  <a:lnTo>
                    <a:pt x="4857898" y="6217920"/>
                  </a:lnTo>
                  <a:lnTo>
                    <a:pt x="4838995" y="6217920"/>
                  </a:lnTo>
                  <a:lnTo>
                    <a:pt x="4838995" y="19050"/>
                  </a:lnTo>
                  <a:lnTo>
                    <a:pt x="4857898" y="19050"/>
                  </a:lnTo>
                  <a:lnTo>
                    <a:pt x="4857898" y="38100"/>
                  </a:lnTo>
                  <a:lnTo>
                    <a:pt x="18902" y="38100"/>
                  </a:lnTo>
                  <a:close/>
                </a:path>
              </a:pathLst>
            </a:custGeom>
            <a:solidFill>
              <a:srgbClr val="C1E5F5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4876800" cy="6236970"/>
            </a:xfrm>
            <a:prstGeom prst="rect">
              <a:avLst/>
            </a:prstGeom>
          </p:spPr>
          <p:txBody>
            <a:bodyPr lIns="190500" tIns="190500" rIns="190500" bIns="190500" rtlCol="0" anchor="t"/>
            <a:lstStyle/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Penyusunan SNI Perkakas Tangan di lingkup Komtek 21-02 Alat dan Perkakas</a:t>
              </a:r>
            </a:p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Sosialisasi SNI Perkakas Tangan</a:t>
              </a:r>
            </a:p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Pendampingan  Penerapan SNI Perkakas Tangan</a:t>
              </a:r>
            </a:p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Fasilitasi Sertifikasi SNI Perkakas Tangan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643312" y="5283956"/>
            <a:ext cx="3686175" cy="4677728"/>
            <a:chOff x="0" y="0"/>
            <a:chExt cx="4914900" cy="6236970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4876800" cy="6198870"/>
            </a:xfrm>
            <a:custGeom>
              <a:avLst/>
              <a:gdLst/>
              <a:ahLst/>
              <a:cxnLst/>
              <a:rect l="l" t="t" r="r" b="b"/>
              <a:pathLst>
                <a:path w="4876800" h="6198870">
                  <a:moveTo>
                    <a:pt x="0" y="0"/>
                  </a:moveTo>
                  <a:lnTo>
                    <a:pt x="4876800" y="0"/>
                  </a:lnTo>
                  <a:lnTo>
                    <a:pt x="4876800" y="6198870"/>
                  </a:lnTo>
                  <a:lnTo>
                    <a:pt x="0" y="6198870"/>
                  </a:ln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4914900" cy="6236970"/>
            </a:xfrm>
            <a:custGeom>
              <a:avLst/>
              <a:gdLst/>
              <a:ahLst/>
              <a:cxnLst/>
              <a:rect l="l" t="t" r="r" b="b"/>
              <a:pathLst>
                <a:path w="4914900" h="6236970">
                  <a:moveTo>
                    <a:pt x="19050" y="0"/>
                  </a:moveTo>
                  <a:lnTo>
                    <a:pt x="4895850" y="0"/>
                  </a:lnTo>
                  <a:cubicBezTo>
                    <a:pt x="4906391" y="0"/>
                    <a:pt x="4914900" y="8509"/>
                    <a:pt x="4914900" y="19050"/>
                  </a:cubicBezTo>
                  <a:lnTo>
                    <a:pt x="4914900" y="6217920"/>
                  </a:lnTo>
                  <a:cubicBezTo>
                    <a:pt x="4914900" y="6228461"/>
                    <a:pt x="4906391" y="6236970"/>
                    <a:pt x="4895850" y="6236970"/>
                  </a:cubicBezTo>
                  <a:lnTo>
                    <a:pt x="19050" y="6236970"/>
                  </a:lnTo>
                  <a:cubicBezTo>
                    <a:pt x="8509" y="6236970"/>
                    <a:pt x="0" y="6228461"/>
                    <a:pt x="0" y="621792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217920"/>
                  </a:lnTo>
                  <a:lnTo>
                    <a:pt x="19050" y="6217920"/>
                  </a:lnTo>
                  <a:lnTo>
                    <a:pt x="19050" y="6198870"/>
                  </a:lnTo>
                  <a:lnTo>
                    <a:pt x="4895850" y="6198870"/>
                  </a:lnTo>
                  <a:lnTo>
                    <a:pt x="4895850" y="6217920"/>
                  </a:lnTo>
                  <a:lnTo>
                    <a:pt x="4876800" y="6217920"/>
                  </a:lnTo>
                  <a:lnTo>
                    <a:pt x="4876800" y="19050"/>
                  </a:lnTo>
                  <a:lnTo>
                    <a:pt x="4895850" y="19050"/>
                  </a:lnTo>
                  <a:lnTo>
                    <a:pt x="4895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1E5F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4914900" cy="6236970"/>
            </a:xfrm>
            <a:prstGeom prst="rect">
              <a:avLst/>
            </a:prstGeom>
          </p:spPr>
          <p:txBody>
            <a:bodyPr lIns="190500" tIns="190500" rIns="190500" bIns="190500" rtlCol="0" anchor="t"/>
            <a:lstStyle/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Bimbingan Teknis bagi IKM Perkakas Tangan</a:t>
              </a:r>
            </a:p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Fasilitasi Mesin / Peralatan bagi IKM Perkakas Tangan</a:t>
              </a:r>
            </a:p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Pendampingan Teknis bagi IKM Perkakas Tangan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00912" y="5283956"/>
            <a:ext cx="3686175" cy="4677728"/>
            <a:chOff x="0" y="0"/>
            <a:chExt cx="4914900" cy="6236970"/>
          </a:xfrm>
        </p:grpSpPr>
        <p:sp>
          <p:nvSpPr>
            <p:cNvPr id="26" name="Freeform 26"/>
            <p:cNvSpPr/>
            <p:nvPr/>
          </p:nvSpPr>
          <p:spPr>
            <a:xfrm>
              <a:off x="19050" y="19050"/>
              <a:ext cx="4876800" cy="6198870"/>
            </a:xfrm>
            <a:custGeom>
              <a:avLst/>
              <a:gdLst/>
              <a:ahLst/>
              <a:cxnLst/>
              <a:rect l="l" t="t" r="r" b="b"/>
              <a:pathLst>
                <a:path w="4876800" h="6198870">
                  <a:moveTo>
                    <a:pt x="0" y="0"/>
                  </a:moveTo>
                  <a:lnTo>
                    <a:pt x="4876800" y="0"/>
                  </a:lnTo>
                  <a:lnTo>
                    <a:pt x="4876800" y="6198870"/>
                  </a:lnTo>
                  <a:lnTo>
                    <a:pt x="0" y="6198870"/>
                  </a:ln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4914900" cy="6236970"/>
            </a:xfrm>
            <a:custGeom>
              <a:avLst/>
              <a:gdLst/>
              <a:ahLst/>
              <a:cxnLst/>
              <a:rect l="l" t="t" r="r" b="b"/>
              <a:pathLst>
                <a:path w="4914900" h="6236970">
                  <a:moveTo>
                    <a:pt x="19050" y="0"/>
                  </a:moveTo>
                  <a:lnTo>
                    <a:pt x="4895850" y="0"/>
                  </a:lnTo>
                  <a:cubicBezTo>
                    <a:pt x="4906391" y="0"/>
                    <a:pt x="4914900" y="8509"/>
                    <a:pt x="4914900" y="19050"/>
                  </a:cubicBezTo>
                  <a:lnTo>
                    <a:pt x="4914900" y="6217920"/>
                  </a:lnTo>
                  <a:cubicBezTo>
                    <a:pt x="4914900" y="6228461"/>
                    <a:pt x="4906391" y="6236970"/>
                    <a:pt x="4895850" y="6236970"/>
                  </a:cubicBezTo>
                  <a:lnTo>
                    <a:pt x="19050" y="6236970"/>
                  </a:lnTo>
                  <a:cubicBezTo>
                    <a:pt x="8509" y="6236970"/>
                    <a:pt x="0" y="6228461"/>
                    <a:pt x="0" y="621792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217920"/>
                  </a:lnTo>
                  <a:lnTo>
                    <a:pt x="19050" y="6217920"/>
                  </a:lnTo>
                  <a:lnTo>
                    <a:pt x="19050" y="6198870"/>
                  </a:lnTo>
                  <a:lnTo>
                    <a:pt x="4895850" y="6198870"/>
                  </a:lnTo>
                  <a:lnTo>
                    <a:pt x="4895850" y="6217920"/>
                  </a:lnTo>
                  <a:lnTo>
                    <a:pt x="4876800" y="6217920"/>
                  </a:lnTo>
                  <a:lnTo>
                    <a:pt x="4876800" y="19050"/>
                  </a:lnTo>
                  <a:lnTo>
                    <a:pt x="4895850" y="19050"/>
                  </a:lnTo>
                  <a:lnTo>
                    <a:pt x="4895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1E5F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914900" cy="6246495"/>
            </a:xfrm>
            <a:prstGeom prst="rect">
              <a:avLst/>
            </a:prstGeom>
          </p:spPr>
          <p:txBody>
            <a:bodyPr lIns="190500" tIns="190500" rIns="190500" bIns="190500" rtlCol="0" anchor="t"/>
            <a:lstStyle/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Pendampingan Kemitraan IKM Perkakas Tangan (</a:t>
              </a:r>
              <a:r>
                <a:rPr lang="en-US" sz="2100" i="1">
                  <a:solidFill>
                    <a:srgbClr val="DCEAF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pengurusan legalitas usaha, pengembangan / diversifikasi produk, hingga pengujian produk</a:t>
              </a:r>
              <a:r>
                <a:rPr lang="en-US" sz="2100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)</a:t>
              </a:r>
            </a:p>
            <a:p>
              <a:pPr marL="380048" lvl="1" indent="-190024" algn="just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Fasilitasi kemitraan IKM Perkakas Tangan dengan Pemda, K/L dan Industri Besar (</a:t>
              </a:r>
              <a:r>
                <a:rPr lang="en-US" sz="2100" i="1">
                  <a:solidFill>
                    <a:srgbClr val="DCEAF7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dalam bentuk workshop, FGD, temu bisnis atau link &amp; match</a:t>
              </a:r>
              <a:r>
                <a:rPr lang="en-US" sz="2100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958512" y="5283956"/>
            <a:ext cx="3686175" cy="4677728"/>
            <a:chOff x="0" y="0"/>
            <a:chExt cx="4914900" cy="6236970"/>
          </a:xfrm>
        </p:grpSpPr>
        <p:sp>
          <p:nvSpPr>
            <p:cNvPr id="30" name="Freeform 30"/>
            <p:cNvSpPr/>
            <p:nvPr/>
          </p:nvSpPr>
          <p:spPr>
            <a:xfrm>
              <a:off x="19050" y="19050"/>
              <a:ext cx="4876800" cy="6198870"/>
            </a:xfrm>
            <a:custGeom>
              <a:avLst/>
              <a:gdLst/>
              <a:ahLst/>
              <a:cxnLst/>
              <a:rect l="l" t="t" r="r" b="b"/>
              <a:pathLst>
                <a:path w="4876800" h="6198870">
                  <a:moveTo>
                    <a:pt x="0" y="0"/>
                  </a:moveTo>
                  <a:lnTo>
                    <a:pt x="4876800" y="0"/>
                  </a:lnTo>
                  <a:lnTo>
                    <a:pt x="4876800" y="6198870"/>
                  </a:lnTo>
                  <a:lnTo>
                    <a:pt x="0" y="6198870"/>
                  </a:ln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914900" cy="6236970"/>
            </a:xfrm>
            <a:custGeom>
              <a:avLst/>
              <a:gdLst/>
              <a:ahLst/>
              <a:cxnLst/>
              <a:rect l="l" t="t" r="r" b="b"/>
              <a:pathLst>
                <a:path w="4914900" h="6236970">
                  <a:moveTo>
                    <a:pt x="19050" y="0"/>
                  </a:moveTo>
                  <a:lnTo>
                    <a:pt x="4895850" y="0"/>
                  </a:lnTo>
                  <a:cubicBezTo>
                    <a:pt x="4906391" y="0"/>
                    <a:pt x="4914900" y="8509"/>
                    <a:pt x="4914900" y="19050"/>
                  </a:cubicBezTo>
                  <a:lnTo>
                    <a:pt x="4914900" y="6217920"/>
                  </a:lnTo>
                  <a:cubicBezTo>
                    <a:pt x="4914900" y="6228461"/>
                    <a:pt x="4906391" y="6236970"/>
                    <a:pt x="4895850" y="6236970"/>
                  </a:cubicBezTo>
                  <a:lnTo>
                    <a:pt x="19050" y="6236970"/>
                  </a:lnTo>
                  <a:cubicBezTo>
                    <a:pt x="8509" y="6236970"/>
                    <a:pt x="0" y="6228461"/>
                    <a:pt x="0" y="621792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217920"/>
                  </a:lnTo>
                  <a:lnTo>
                    <a:pt x="19050" y="6217920"/>
                  </a:lnTo>
                  <a:lnTo>
                    <a:pt x="19050" y="6198870"/>
                  </a:lnTo>
                  <a:lnTo>
                    <a:pt x="4895850" y="6198870"/>
                  </a:lnTo>
                  <a:lnTo>
                    <a:pt x="4895850" y="6217920"/>
                  </a:lnTo>
                  <a:lnTo>
                    <a:pt x="4876800" y="6217920"/>
                  </a:lnTo>
                  <a:lnTo>
                    <a:pt x="4876800" y="19050"/>
                  </a:lnTo>
                  <a:lnTo>
                    <a:pt x="4895850" y="19050"/>
                  </a:lnTo>
                  <a:lnTo>
                    <a:pt x="4895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1E5F5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4914900" cy="6236970"/>
            </a:xfrm>
            <a:prstGeom prst="rect">
              <a:avLst/>
            </a:prstGeom>
          </p:spPr>
          <p:txBody>
            <a:bodyPr lIns="190500" tIns="190500" rIns="190500" bIns="190500" rtlCol="0" anchor="t"/>
            <a:lstStyle/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Fasilitasi Akses Bahan Baku dengan Industri Produsen Bahan Baku di Dalam Negeri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616112" y="5283956"/>
            <a:ext cx="3686175" cy="4677728"/>
            <a:chOff x="0" y="0"/>
            <a:chExt cx="4914900" cy="6236970"/>
          </a:xfrm>
        </p:grpSpPr>
        <p:sp>
          <p:nvSpPr>
            <p:cNvPr id="34" name="Freeform 34"/>
            <p:cNvSpPr/>
            <p:nvPr/>
          </p:nvSpPr>
          <p:spPr>
            <a:xfrm>
              <a:off x="19050" y="19050"/>
              <a:ext cx="4876800" cy="6198870"/>
            </a:xfrm>
            <a:custGeom>
              <a:avLst/>
              <a:gdLst/>
              <a:ahLst/>
              <a:cxnLst/>
              <a:rect l="l" t="t" r="r" b="b"/>
              <a:pathLst>
                <a:path w="4876800" h="6198870">
                  <a:moveTo>
                    <a:pt x="0" y="0"/>
                  </a:moveTo>
                  <a:lnTo>
                    <a:pt x="4876800" y="0"/>
                  </a:lnTo>
                  <a:lnTo>
                    <a:pt x="4876800" y="6198870"/>
                  </a:lnTo>
                  <a:lnTo>
                    <a:pt x="0" y="6198870"/>
                  </a:ln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4914900" cy="6236970"/>
            </a:xfrm>
            <a:custGeom>
              <a:avLst/>
              <a:gdLst/>
              <a:ahLst/>
              <a:cxnLst/>
              <a:rect l="l" t="t" r="r" b="b"/>
              <a:pathLst>
                <a:path w="4914900" h="6236970">
                  <a:moveTo>
                    <a:pt x="19050" y="0"/>
                  </a:moveTo>
                  <a:lnTo>
                    <a:pt x="4895850" y="0"/>
                  </a:lnTo>
                  <a:cubicBezTo>
                    <a:pt x="4906391" y="0"/>
                    <a:pt x="4914900" y="8509"/>
                    <a:pt x="4914900" y="19050"/>
                  </a:cubicBezTo>
                  <a:lnTo>
                    <a:pt x="4914900" y="6217920"/>
                  </a:lnTo>
                  <a:cubicBezTo>
                    <a:pt x="4914900" y="6228461"/>
                    <a:pt x="4906391" y="6236970"/>
                    <a:pt x="4895850" y="6236970"/>
                  </a:cubicBezTo>
                  <a:lnTo>
                    <a:pt x="19050" y="6236970"/>
                  </a:lnTo>
                  <a:cubicBezTo>
                    <a:pt x="8509" y="6236970"/>
                    <a:pt x="0" y="6228461"/>
                    <a:pt x="0" y="621792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217920"/>
                  </a:lnTo>
                  <a:lnTo>
                    <a:pt x="19050" y="6217920"/>
                  </a:lnTo>
                  <a:lnTo>
                    <a:pt x="19050" y="6198870"/>
                  </a:lnTo>
                  <a:lnTo>
                    <a:pt x="4895850" y="6198870"/>
                  </a:lnTo>
                  <a:lnTo>
                    <a:pt x="4895850" y="6217920"/>
                  </a:lnTo>
                  <a:lnTo>
                    <a:pt x="4876800" y="6217920"/>
                  </a:lnTo>
                  <a:lnTo>
                    <a:pt x="4876800" y="19050"/>
                  </a:lnTo>
                  <a:lnTo>
                    <a:pt x="4895850" y="19050"/>
                  </a:lnTo>
                  <a:lnTo>
                    <a:pt x="4895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1E5F5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4914900" cy="6236970"/>
            </a:xfrm>
            <a:prstGeom prst="rect">
              <a:avLst/>
            </a:prstGeom>
          </p:spPr>
          <p:txBody>
            <a:bodyPr lIns="190500" tIns="190500" rIns="190500" bIns="190500" rtlCol="0" anchor="t"/>
            <a:lstStyle/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Penyusunan Katalog Produk Perkakas Pertanian</a:t>
              </a:r>
            </a:p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Fasilitasi Partisipasi Pameran Perkebunan / Pertanian</a:t>
              </a:r>
            </a:p>
            <a:p>
              <a:pPr marL="398145" lvl="1" indent="-199072" algn="just">
                <a:lnSpc>
                  <a:spcPts val="2639"/>
                </a:lnSpc>
                <a:buFont typeface="Arial"/>
                <a:buChar char="•"/>
              </a:pPr>
              <a:r>
                <a:rPr lang="en-US" sz="2199">
                  <a:solidFill>
                    <a:srgbClr val="DCEAF7"/>
                  </a:solidFill>
                  <a:latin typeface="Aptos"/>
                  <a:ea typeface="Aptos"/>
                  <a:cs typeface="Aptos"/>
                  <a:sym typeface="Aptos"/>
                </a:rPr>
                <a:t>Fasilitasi Pemasaran Online Melalui Media Sosial dan e-Commerce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43025" y="2378602"/>
            <a:ext cx="971550" cy="971550"/>
            <a:chOff x="0" y="0"/>
            <a:chExt cx="1295400" cy="1295400"/>
          </a:xfrm>
        </p:grpSpPr>
        <p:sp>
          <p:nvSpPr>
            <p:cNvPr id="38" name="Freeform 38"/>
            <p:cNvSpPr/>
            <p:nvPr/>
          </p:nvSpPr>
          <p:spPr>
            <a:xfrm>
              <a:off x="12700" y="1270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1295400" cy="1285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000625" y="2378602"/>
            <a:ext cx="971550" cy="971550"/>
            <a:chOff x="0" y="0"/>
            <a:chExt cx="1295400" cy="1295400"/>
          </a:xfrm>
        </p:grpSpPr>
        <p:sp>
          <p:nvSpPr>
            <p:cNvPr id="41" name="Freeform 41"/>
            <p:cNvSpPr/>
            <p:nvPr/>
          </p:nvSpPr>
          <p:spPr>
            <a:xfrm>
              <a:off x="12700" y="1270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9525"/>
              <a:ext cx="1295400" cy="1285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658225" y="2378602"/>
            <a:ext cx="971550" cy="971550"/>
            <a:chOff x="0" y="0"/>
            <a:chExt cx="1295400" cy="1295400"/>
          </a:xfrm>
        </p:grpSpPr>
        <p:sp>
          <p:nvSpPr>
            <p:cNvPr id="44" name="Freeform 44"/>
            <p:cNvSpPr/>
            <p:nvPr/>
          </p:nvSpPr>
          <p:spPr>
            <a:xfrm>
              <a:off x="12700" y="1270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9525"/>
              <a:ext cx="1295400" cy="1285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315825" y="2378602"/>
            <a:ext cx="971550" cy="971550"/>
            <a:chOff x="0" y="0"/>
            <a:chExt cx="1295400" cy="1295400"/>
          </a:xfrm>
        </p:grpSpPr>
        <p:sp>
          <p:nvSpPr>
            <p:cNvPr id="47" name="Freeform 47"/>
            <p:cNvSpPr/>
            <p:nvPr/>
          </p:nvSpPr>
          <p:spPr>
            <a:xfrm>
              <a:off x="12700" y="1270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1295400" cy="1285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973425" y="2378602"/>
            <a:ext cx="971550" cy="971550"/>
            <a:chOff x="0" y="0"/>
            <a:chExt cx="1295400" cy="1295400"/>
          </a:xfrm>
        </p:grpSpPr>
        <p:sp>
          <p:nvSpPr>
            <p:cNvPr id="50" name="Freeform 50"/>
            <p:cNvSpPr/>
            <p:nvPr/>
          </p:nvSpPr>
          <p:spPr>
            <a:xfrm>
              <a:off x="12700" y="12700"/>
              <a:ext cx="1270000" cy="1270000"/>
            </a:xfrm>
            <a:custGeom>
              <a:avLst/>
              <a:gdLst/>
              <a:ahLst/>
              <a:cxnLst/>
              <a:rect l="l" t="t" r="r" b="b"/>
              <a:pathLst>
                <a:path w="1270000" h="1270000">
                  <a:moveTo>
                    <a:pt x="0" y="635000"/>
                  </a:moveTo>
                  <a:cubicBezTo>
                    <a:pt x="0" y="284353"/>
                    <a:pt x="284353" y="0"/>
                    <a:pt x="635000" y="0"/>
                  </a:cubicBezTo>
                  <a:cubicBezTo>
                    <a:pt x="985647" y="0"/>
                    <a:pt x="1270000" y="284353"/>
                    <a:pt x="1270000" y="635000"/>
                  </a:cubicBezTo>
                  <a:cubicBezTo>
                    <a:pt x="1270000" y="985647"/>
                    <a:pt x="985647" y="1270000"/>
                    <a:pt x="635000" y="1270000"/>
                  </a:cubicBezTo>
                  <a:cubicBezTo>
                    <a:pt x="284353" y="1270000"/>
                    <a:pt x="0" y="985647"/>
                    <a:pt x="0" y="635000"/>
                  </a:cubicBez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9525"/>
              <a:ext cx="1295400" cy="1285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id="52" name="Freeform 52" descr="Lightbulb"/>
          <p:cNvSpPr/>
          <p:nvPr/>
        </p:nvSpPr>
        <p:spPr>
          <a:xfrm>
            <a:off x="1594047" y="4252677"/>
            <a:ext cx="469503" cy="758427"/>
          </a:xfrm>
          <a:custGeom>
            <a:avLst/>
            <a:gdLst/>
            <a:ahLst/>
            <a:cxnLst/>
            <a:rect l="l" t="t" r="r" b="b"/>
            <a:pathLst>
              <a:path w="469503" h="758427">
                <a:moveTo>
                  <a:pt x="0" y="0"/>
                </a:moveTo>
                <a:lnTo>
                  <a:pt x="469503" y="0"/>
                </a:lnTo>
                <a:lnTo>
                  <a:pt x="469503" y="758427"/>
                </a:lnTo>
                <a:lnTo>
                  <a:pt x="0" y="7584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 descr="Gears"/>
          <p:cNvSpPr/>
          <p:nvPr/>
        </p:nvSpPr>
        <p:spPr>
          <a:xfrm>
            <a:off x="5192056" y="4275249"/>
            <a:ext cx="588684" cy="712382"/>
          </a:xfrm>
          <a:custGeom>
            <a:avLst/>
            <a:gdLst/>
            <a:ahLst/>
            <a:cxnLst/>
            <a:rect l="l" t="t" r="r" b="b"/>
            <a:pathLst>
              <a:path w="588684" h="712382">
                <a:moveTo>
                  <a:pt x="0" y="0"/>
                </a:moveTo>
                <a:lnTo>
                  <a:pt x="588684" y="0"/>
                </a:lnTo>
                <a:lnTo>
                  <a:pt x="588684" y="712381"/>
                </a:lnTo>
                <a:lnTo>
                  <a:pt x="0" y="7123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 descr="Research"/>
          <p:cNvSpPr/>
          <p:nvPr/>
        </p:nvSpPr>
        <p:spPr>
          <a:xfrm>
            <a:off x="8781032" y="4273438"/>
            <a:ext cx="714417" cy="715320"/>
          </a:xfrm>
          <a:custGeom>
            <a:avLst/>
            <a:gdLst/>
            <a:ahLst/>
            <a:cxnLst/>
            <a:rect l="l" t="t" r="r" b="b"/>
            <a:pathLst>
              <a:path w="714417" h="715320">
                <a:moveTo>
                  <a:pt x="0" y="0"/>
                </a:moveTo>
                <a:lnTo>
                  <a:pt x="714416" y="0"/>
                </a:lnTo>
                <a:lnTo>
                  <a:pt x="714416" y="715320"/>
                </a:lnTo>
                <a:lnTo>
                  <a:pt x="0" y="7153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 descr="Database"/>
          <p:cNvSpPr/>
          <p:nvPr/>
        </p:nvSpPr>
        <p:spPr>
          <a:xfrm>
            <a:off x="12548790" y="4288792"/>
            <a:ext cx="505618" cy="686196"/>
          </a:xfrm>
          <a:custGeom>
            <a:avLst/>
            <a:gdLst/>
            <a:ahLst/>
            <a:cxnLst/>
            <a:rect l="l" t="t" r="r" b="b"/>
            <a:pathLst>
              <a:path w="505618" h="686196">
                <a:moveTo>
                  <a:pt x="0" y="0"/>
                </a:moveTo>
                <a:lnTo>
                  <a:pt x="505618" y="0"/>
                </a:lnTo>
                <a:lnTo>
                  <a:pt x="505618" y="686196"/>
                </a:lnTo>
                <a:lnTo>
                  <a:pt x="0" y="6861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 descr="Box trolley"/>
          <p:cNvSpPr/>
          <p:nvPr/>
        </p:nvSpPr>
        <p:spPr>
          <a:xfrm>
            <a:off x="16172475" y="4316782"/>
            <a:ext cx="648004" cy="685293"/>
          </a:xfrm>
          <a:custGeom>
            <a:avLst/>
            <a:gdLst/>
            <a:ahLst/>
            <a:cxnLst/>
            <a:rect l="l" t="t" r="r" b="b"/>
            <a:pathLst>
              <a:path w="648004" h="685293">
                <a:moveTo>
                  <a:pt x="0" y="0"/>
                </a:moveTo>
                <a:lnTo>
                  <a:pt x="648005" y="0"/>
                </a:lnTo>
                <a:lnTo>
                  <a:pt x="648005" y="685294"/>
                </a:lnTo>
                <a:lnTo>
                  <a:pt x="0" y="6852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57" name="Group 57"/>
          <p:cNvGrpSpPr/>
          <p:nvPr/>
        </p:nvGrpSpPr>
        <p:grpSpPr>
          <a:xfrm>
            <a:off x="261642" y="3262084"/>
            <a:ext cx="3134319" cy="1061829"/>
            <a:chOff x="0" y="0"/>
            <a:chExt cx="4179092" cy="141577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179092" cy="1415772"/>
            </a:xfrm>
            <a:custGeom>
              <a:avLst/>
              <a:gdLst/>
              <a:ahLst/>
              <a:cxnLst/>
              <a:rect l="l" t="t" r="r" b="b"/>
              <a:pathLst>
                <a:path w="4179092" h="1415772">
                  <a:moveTo>
                    <a:pt x="0" y="0"/>
                  </a:moveTo>
                  <a:lnTo>
                    <a:pt x="4179092" y="0"/>
                  </a:lnTo>
                  <a:lnTo>
                    <a:pt x="4179092" y="1415772"/>
                  </a:lnTo>
                  <a:lnTo>
                    <a:pt x="0" y="1415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4179092" cy="1415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Standardisasi</a:t>
              </a:r>
            </a:p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Produk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3689612" y="3492916"/>
            <a:ext cx="3593580" cy="600165"/>
            <a:chOff x="0" y="0"/>
            <a:chExt cx="4791440" cy="8002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791440" cy="800220"/>
            </a:xfrm>
            <a:custGeom>
              <a:avLst/>
              <a:gdLst/>
              <a:ahLst/>
              <a:cxnLst/>
              <a:rect l="l" t="t" r="r" b="b"/>
              <a:pathLst>
                <a:path w="4791440" h="800220">
                  <a:moveTo>
                    <a:pt x="0" y="0"/>
                  </a:moveTo>
                  <a:lnTo>
                    <a:pt x="4791440" y="0"/>
                  </a:lnTo>
                  <a:lnTo>
                    <a:pt x="4791440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4791440" cy="800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SDM &amp; Teknologi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58877" y="3492916"/>
            <a:ext cx="2358725" cy="600165"/>
            <a:chOff x="0" y="0"/>
            <a:chExt cx="3144966" cy="80022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144966" cy="800220"/>
            </a:xfrm>
            <a:custGeom>
              <a:avLst/>
              <a:gdLst/>
              <a:ahLst/>
              <a:cxnLst/>
              <a:rect l="l" t="t" r="r" b="b"/>
              <a:pathLst>
                <a:path w="3144966" h="800220">
                  <a:moveTo>
                    <a:pt x="0" y="0"/>
                  </a:moveTo>
                  <a:lnTo>
                    <a:pt x="3144966" y="0"/>
                  </a:lnTo>
                  <a:lnTo>
                    <a:pt x="3144966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3144966" cy="800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Kemitraan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505235" y="3492916"/>
            <a:ext cx="2592730" cy="600165"/>
            <a:chOff x="0" y="0"/>
            <a:chExt cx="3456974" cy="8002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456974" cy="800220"/>
            </a:xfrm>
            <a:custGeom>
              <a:avLst/>
              <a:gdLst/>
              <a:ahLst/>
              <a:cxnLst/>
              <a:rect l="l" t="t" r="r" b="b"/>
              <a:pathLst>
                <a:path w="3456974" h="800220">
                  <a:moveTo>
                    <a:pt x="0" y="0"/>
                  </a:moveTo>
                  <a:lnTo>
                    <a:pt x="3456974" y="0"/>
                  </a:lnTo>
                  <a:lnTo>
                    <a:pt x="3456974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3456974" cy="800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Bahan Baku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5472776" y="3492916"/>
            <a:ext cx="1972848" cy="600165"/>
            <a:chOff x="0" y="0"/>
            <a:chExt cx="2630464" cy="80022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630464" cy="800220"/>
            </a:xfrm>
            <a:custGeom>
              <a:avLst/>
              <a:gdLst/>
              <a:ahLst/>
              <a:cxnLst/>
              <a:rect l="l" t="t" r="r" b="b"/>
              <a:pathLst>
                <a:path w="2630464" h="800220">
                  <a:moveTo>
                    <a:pt x="0" y="0"/>
                  </a:moveTo>
                  <a:lnTo>
                    <a:pt x="2630464" y="0"/>
                  </a:lnTo>
                  <a:lnTo>
                    <a:pt x="2630464" y="800220"/>
                  </a:lnTo>
                  <a:lnTo>
                    <a:pt x="0" y="800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0"/>
              <a:ext cx="2630464" cy="8002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DCEA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Promosi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512904" y="339604"/>
            <a:ext cx="2838681" cy="1457276"/>
            <a:chOff x="0" y="0"/>
            <a:chExt cx="3784908" cy="194303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784854" cy="1943100"/>
            </a:xfrm>
            <a:custGeom>
              <a:avLst/>
              <a:gdLst/>
              <a:ahLst/>
              <a:cxnLst/>
              <a:rect l="l" t="t" r="r" b="b"/>
              <a:pathLst>
                <a:path w="3784854" h="1943100">
                  <a:moveTo>
                    <a:pt x="0" y="0"/>
                  </a:moveTo>
                  <a:lnTo>
                    <a:pt x="3461004" y="0"/>
                  </a:lnTo>
                  <a:lnTo>
                    <a:pt x="3784854" y="323850"/>
                  </a:lnTo>
                  <a:lnTo>
                    <a:pt x="3784854" y="1943100"/>
                  </a:lnTo>
                  <a:lnTo>
                    <a:pt x="0" y="19431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15622255" y="685578"/>
            <a:ext cx="2415888" cy="736130"/>
            <a:chOff x="0" y="0"/>
            <a:chExt cx="3221184" cy="981506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221228" cy="981456"/>
            </a:xfrm>
            <a:custGeom>
              <a:avLst/>
              <a:gdLst/>
              <a:ahLst/>
              <a:cxnLst/>
              <a:rect l="l" t="t" r="r" b="b"/>
              <a:pathLst>
                <a:path w="3221228" h="981456">
                  <a:moveTo>
                    <a:pt x="0" y="0"/>
                  </a:moveTo>
                  <a:lnTo>
                    <a:pt x="3221228" y="0"/>
                  </a:lnTo>
                  <a:lnTo>
                    <a:pt x="3221228" y="981456"/>
                  </a:lnTo>
                  <a:lnTo>
                    <a:pt x="0" y="981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80" r="1" b="-185"/>
              </a:stretch>
            </a:blipFill>
          </p:spPr>
        </p:sp>
      </p:grpSp>
      <p:sp>
        <p:nvSpPr>
          <p:cNvPr id="76" name="Freeform 76"/>
          <p:cNvSpPr/>
          <p:nvPr/>
        </p:nvSpPr>
        <p:spPr>
          <a:xfrm>
            <a:off x="1607959" y="4213876"/>
            <a:ext cx="15222240" cy="761112"/>
          </a:xfrm>
          <a:custGeom>
            <a:avLst/>
            <a:gdLst/>
            <a:ahLst/>
            <a:cxnLst/>
            <a:rect l="l" t="t" r="r" b="b"/>
            <a:pathLst>
              <a:path w="15222240" h="761112">
                <a:moveTo>
                  <a:pt x="0" y="0"/>
                </a:moveTo>
                <a:lnTo>
                  <a:pt x="15222241" y="0"/>
                </a:lnTo>
                <a:lnTo>
                  <a:pt x="15222241" y="761112"/>
                </a:lnTo>
                <a:lnTo>
                  <a:pt x="0" y="7611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4875698">
            <a:off x="17120310" y="9981905"/>
            <a:ext cx="674561" cy="47625"/>
            <a:chOff x="0" y="0"/>
            <a:chExt cx="899414" cy="6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9414" cy="63500"/>
            </a:xfrm>
            <a:custGeom>
              <a:avLst/>
              <a:gdLst/>
              <a:ahLst/>
              <a:cxnLst/>
              <a:rect l="l" t="t" r="r" b="b"/>
              <a:pathLst>
                <a:path w="899414" h="63500">
                  <a:moveTo>
                    <a:pt x="31750" y="0"/>
                  </a:moveTo>
                  <a:lnTo>
                    <a:pt x="867664" y="0"/>
                  </a:lnTo>
                  <a:cubicBezTo>
                    <a:pt x="885190" y="0"/>
                    <a:pt x="899414" y="14224"/>
                    <a:pt x="899414" y="31750"/>
                  </a:cubicBezTo>
                  <a:cubicBezTo>
                    <a:pt x="899414" y="49276"/>
                    <a:pt x="885190" y="63500"/>
                    <a:pt x="867664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ubicBezTo>
                    <a:pt x="0" y="14224"/>
                    <a:pt x="14224" y="0"/>
                    <a:pt x="31750" y="0"/>
                  </a:cubicBezTo>
                  <a:close/>
                </a:path>
              </a:pathLst>
            </a:custGeom>
            <a:solidFill>
              <a:srgbClr val="FFBE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1696625" y="4924425"/>
            <a:ext cx="5992737" cy="1987548"/>
            <a:chOff x="0" y="0"/>
            <a:chExt cx="1702004" cy="5644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2004" cy="564486"/>
            </a:xfrm>
            <a:custGeom>
              <a:avLst/>
              <a:gdLst/>
              <a:ahLst/>
              <a:cxnLst/>
              <a:rect l="l" t="t" r="r" b="b"/>
              <a:pathLst>
                <a:path w="1702004" h="564486">
                  <a:moveTo>
                    <a:pt x="65886" y="0"/>
                  </a:moveTo>
                  <a:lnTo>
                    <a:pt x="1636118" y="0"/>
                  </a:lnTo>
                  <a:cubicBezTo>
                    <a:pt x="1672506" y="0"/>
                    <a:pt x="1702004" y="29498"/>
                    <a:pt x="1702004" y="65886"/>
                  </a:cubicBezTo>
                  <a:lnTo>
                    <a:pt x="1702004" y="498600"/>
                  </a:lnTo>
                  <a:cubicBezTo>
                    <a:pt x="1702004" y="516074"/>
                    <a:pt x="1695062" y="532832"/>
                    <a:pt x="1682706" y="545188"/>
                  </a:cubicBezTo>
                  <a:cubicBezTo>
                    <a:pt x="1670350" y="557544"/>
                    <a:pt x="1653592" y="564486"/>
                    <a:pt x="1636118" y="564486"/>
                  </a:cubicBezTo>
                  <a:lnTo>
                    <a:pt x="65886" y="564486"/>
                  </a:lnTo>
                  <a:cubicBezTo>
                    <a:pt x="29498" y="564486"/>
                    <a:pt x="0" y="534988"/>
                    <a:pt x="0" y="498600"/>
                  </a:cubicBezTo>
                  <a:lnTo>
                    <a:pt x="0" y="65886"/>
                  </a:lnTo>
                  <a:cubicBezTo>
                    <a:pt x="0" y="48412"/>
                    <a:pt x="6942" y="31654"/>
                    <a:pt x="19298" y="19298"/>
                  </a:cubicBezTo>
                  <a:cubicBezTo>
                    <a:pt x="31654" y="6942"/>
                    <a:pt x="48412" y="0"/>
                    <a:pt x="65886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702004" cy="564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698936" y="2111236"/>
            <a:ext cx="5992737" cy="2550632"/>
            <a:chOff x="0" y="0"/>
            <a:chExt cx="1702004" cy="7244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02004" cy="724408"/>
            </a:xfrm>
            <a:custGeom>
              <a:avLst/>
              <a:gdLst/>
              <a:ahLst/>
              <a:cxnLst/>
              <a:rect l="l" t="t" r="r" b="b"/>
              <a:pathLst>
                <a:path w="1702004" h="724408">
                  <a:moveTo>
                    <a:pt x="65886" y="0"/>
                  </a:moveTo>
                  <a:lnTo>
                    <a:pt x="1636118" y="0"/>
                  </a:lnTo>
                  <a:cubicBezTo>
                    <a:pt x="1672506" y="0"/>
                    <a:pt x="1702004" y="29498"/>
                    <a:pt x="1702004" y="65886"/>
                  </a:cubicBezTo>
                  <a:lnTo>
                    <a:pt x="1702004" y="658522"/>
                  </a:lnTo>
                  <a:cubicBezTo>
                    <a:pt x="1702004" y="675996"/>
                    <a:pt x="1695062" y="692754"/>
                    <a:pt x="1682706" y="705110"/>
                  </a:cubicBezTo>
                  <a:cubicBezTo>
                    <a:pt x="1670350" y="717466"/>
                    <a:pt x="1653592" y="724408"/>
                    <a:pt x="1636118" y="724408"/>
                  </a:cubicBezTo>
                  <a:lnTo>
                    <a:pt x="65886" y="724408"/>
                  </a:lnTo>
                  <a:cubicBezTo>
                    <a:pt x="48412" y="724408"/>
                    <a:pt x="31654" y="717466"/>
                    <a:pt x="19298" y="705110"/>
                  </a:cubicBezTo>
                  <a:cubicBezTo>
                    <a:pt x="6942" y="692754"/>
                    <a:pt x="0" y="675996"/>
                    <a:pt x="0" y="658522"/>
                  </a:cubicBezTo>
                  <a:lnTo>
                    <a:pt x="0" y="65886"/>
                  </a:lnTo>
                  <a:cubicBezTo>
                    <a:pt x="0" y="48412"/>
                    <a:pt x="6942" y="31654"/>
                    <a:pt x="19298" y="19298"/>
                  </a:cubicBezTo>
                  <a:cubicBezTo>
                    <a:pt x="31654" y="6942"/>
                    <a:pt x="48412" y="0"/>
                    <a:pt x="65886" y="0"/>
                  </a:cubicBezTo>
                  <a:close/>
                </a:path>
              </a:pathLst>
            </a:custGeom>
            <a:solidFill>
              <a:srgbClr val="FFBE5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1702004" cy="7244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86781" y="3773423"/>
            <a:ext cx="2861860" cy="3427860"/>
            <a:chOff x="0" y="0"/>
            <a:chExt cx="812800" cy="9735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973550"/>
            </a:xfrm>
            <a:custGeom>
              <a:avLst/>
              <a:gdLst/>
              <a:ahLst/>
              <a:cxnLst/>
              <a:rect l="l" t="t" r="r" b="b"/>
              <a:pathLst>
                <a:path w="812800" h="973550">
                  <a:moveTo>
                    <a:pt x="137966" y="0"/>
                  </a:moveTo>
                  <a:lnTo>
                    <a:pt x="674834" y="0"/>
                  </a:lnTo>
                  <a:cubicBezTo>
                    <a:pt x="711425" y="0"/>
                    <a:pt x="746517" y="14536"/>
                    <a:pt x="772391" y="40409"/>
                  </a:cubicBezTo>
                  <a:cubicBezTo>
                    <a:pt x="798264" y="66283"/>
                    <a:pt x="812800" y="101375"/>
                    <a:pt x="812800" y="137966"/>
                  </a:cubicBezTo>
                  <a:lnTo>
                    <a:pt x="812800" y="835585"/>
                  </a:lnTo>
                  <a:cubicBezTo>
                    <a:pt x="812800" y="872176"/>
                    <a:pt x="798264" y="907268"/>
                    <a:pt x="772391" y="933141"/>
                  </a:cubicBezTo>
                  <a:cubicBezTo>
                    <a:pt x="746517" y="959015"/>
                    <a:pt x="711425" y="973550"/>
                    <a:pt x="674834" y="973550"/>
                  </a:cubicBezTo>
                  <a:lnTo>
                    <a:pt x="137966" y="973550"/>
                  </a:lnTo>
                  <a:cubicBezTo>
                    <a:pt x="101375" y="973550"/>
                    <a:pt x="66283" y="959015"/>
                    <a:pt x="40409" y="933141"/>
                  </a:cubicBezTo>
                  <a:cubicBezTo>
                    <a:pt x="14536" y="907268"/>
                    <a:pt x="0" y="872176"/>
                    <a:pt x="0" y="835585"/>
                  </a:cubicBezTo>
                  <a:lnTo>
                    <a:pt x="0" y="137966"/>
                  </a:lnTo>
                  <a:cubicBezTo>
                    <a:pt x="0" y="101375"/>
                    <a:pt x="14536" y="66283"/>
                    <a:pt x="40409" y="40409"/>
                  </a:cubicBezTo>
                  <a:cubicBezTo>
                    <a:pt x="66283" y="14536"/>
                    <a:pt x="101375" y="0"/>
                    <a:pt x="137966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812800" cy="97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14700" y="9678260"/>
            <a:ext cx="11658600" cy="467581"/>
            <a:chOff x="0" y="0"/>
            <a:chExt cx="15544800" cy="62344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544800" cy="623443"/>
            </a:xfrm>
            <a:custGeom>
              <a:avLst/>
              <a:gdLst/>
              <a:ahLst/>
              <a:cxnLst/>
              <a:rect l="l" t="t" r="r" b="b"/>
              <a:pathLst>
                <a:path w="15544800" h="623443">
                  <a:moveTo>
                    <a:pt x="0" y="0"/>
                  </a:moveTo>
                  <a:lnTo>
                    <a:pt x="15544800" y="0"/>
                  </a:lnTo>
                  <a:lnTo>
                    <a:pt x="15544800" y="623443"/>
                  </a:lnTo>
                  <a:lnTo>
                    <a:pt x="0" y="623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r="-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3129866" y="435095"/>
            <a:ext cx="4561808" cy="980981"/>
            <a:chOff x="0" y="0"/>
            <a:chExt cx="6082410" cy="13079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82411" cy="1307973"/>
            </a:xfrm>
            <a:custGeom>
              <a:avLst/>
              <a:gdLst/>
              <a:ahLst/>
              <a:cxnLst/>
              <a:rect l="l" t="t" r="r" b="b"/>
              <a:pathLst>
                <a:path w="6082411" h="1307973">
                  <a:moveTo>
                    <a:pt x="0" y="0"/>
                  </a:moveTo>
                  <a:lnTo>
                    <a:pt x="6082411" y="0"/>
                  </a:lnTo>
                  <a:lnTo>
                    <a:pt x="6082411" y="1307973"/>
                  </a:lnTo>
                  <a:lnTo>
                    <a:pt x="0" y="1307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74" b="-474"/>
              </a:stretch>
            </a:blipFill>
          </p:spPr>
        </p:sp>
      </p:grpSp>
      <p:sp>
        <p:nvSpPr>
          <p:cNvPr id="19" name="Freeform 19"/>
          <p:cNvSpPr/>
          <p:nvPr/>
        </p:nvSpPr>
        <p:spPr>
          <a:xfrm>
            <a:off x="8248559" y="4024276"/>
            <a:ext cx="1283204" cy="1275184"/>
          </a:xfrm>
          <a:custGeom>
            <a:avLst/>
            <a:gdLst/>
            <a:ahLst/>
            <a:cxnLst/>
            <a:rect l="l" t="t" r="r" b="b"/>
            <a:pathLst>
              <a:path w="1283204" h="1275184">
                <a:moveTo>
                  <a:pt x="0" y="0"/>
                </a:moveTo>
                <a:lnTo>
                  <a:pt x="1283204" y="0"/>
                </a:lnTo>
                <a:lnTo>
                  <a:pt x="1283204" y="1275184"/>
                </a:lnTo>
                <a:lnTo>
                  <a:pt x="0" y="1275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1913390" y="5200650"/>
            <a:ext cx="1436416" cy="1436416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696625" y="7140431"/>
            <a:ext cx="5992737" cy="2332066"/>
            <a:chOff x="0" y="0"/>
            <a:chExt cx="1702004" cy="66233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02004" cy="662333"/>
            </a:xfrm>
            <a:custGeom>
              <a:avLst/>
              <a:gdLst/>
              <a:ahLst/>
              <a:cxnLst/>
              <a:rect l="l" t="t" r="r" b="b"/>
              <a:pathLst>
                <a:path w="1702004" h="662333">
                  <a:moveTo>
                    <a:pt x="65886" y="0"/>
                  </a:moveTo>
                  <a:lnTo>
                    <a:pt x="1636118" y="0"/>
                  </a:lnTo>
                  <a:cubicBezTo>
                    <a:pt x="1672506" y="0"/>
                    <a:pt x="1702004" y="29498"/>
                    <a:pt x="1702004" y="65886"/>
                  </a:cubicBezTo>
                  <a:lnTo>
                    <a:pt x="1702004" y="596447"/>
                  </a:lnTo>
                  <a:cubicBezTo>
                    <a:pt x="1702004" y="613921"/>
                    <a:pt x="1695062" y="630679"/>
                    <a:pt x="1682706" y="643035"/>
                  </a:cubicBezTo>
                  <a:cubicBezTo>
                    <a:pt x="1670350" y="655391"/>
                    <a:pt x="1653592" y="662333"/>
                    <a:pt x="1636118" y="662333"/>
                  </a:cubicBezTo>
                  <a:lnTo>
                    <a:pt x="65886" y="662333"/>
                  </a:lnTo>
                  <a:cubicBezTo>
                    <a:pt x="29498" y="662333"/>
                    <a:pt x="0" y="632835"/>
                    <a:pt x="0" y="596447"/>
                  </a:cubicBezTo>
                  <a:lnTo>
                    <a:pt x="0" y="65886"/>
                  </a:lnTo>
                  <a:cubicBezTo>
                    <a:pt x="0" y="48412"/>
                    <a:pt x="6942" y="31654"/>
                    <a:pt x="19298" y="19298"/>
                  </a:cubicBezTo>
                  <a:cubicBezTo>
                    <a:pt x="31654" y="6942"/>
                    <a:pt x="48412" y="0"/>
                    <a:pt x="65886" y="0"/>
                  </a:cubicBezTo>
                  <a:close/>
                </a:path>
              </a:pathLst>
            </a:custGeom>
            <a:solidFill>
              <a:srgbClr val="FF909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0"/>
              <a:ext cx="1702004" cy="662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909236" y="7588256"/>
            <a:ext cx="1436416" cy="1436416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2140871" y="7845431"/>
            <a:ext cx="973147" cy="825958"/>
          </a:xfrm>
          <a:custGeom>
            <a:avLst/>
            <a:gdLst/>
            <a:ahLst/>
            <a:cxnLst/>
            <a:rect l="l" t="t" r="r" b="b"/>
            <a:pathLst>
              <a:path w="973147" h="825958">
                <a:moveTo>
                  <a:pt x="0" y="0"/>
                </a:moveTo>
                <a:lnTo>
                  <a:pt x="973146" y="0"/>
                </a:lnTo>
                <a:lnTo>
                  <a:pt x="973146" y="825958"/>
                </a:lnTo>
                <a:lnTo>
                  <a:pt x="0" y="8259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1913390" y="2728278"/>
            <a:ext cx="1436416" cy="1436416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12172055" y="2986943"/>
            <a:ext cx="919086" cy="919086"/>
          </a:xfrm>
          <a:custGeom>
            <a:avLst/>
            <a:gdLst/>
            <a:ahLst/>
            <a:cxnLst/>
            <a:rect l="l" t="t" r="r" b="b"/>
            <a:pathLst>
              <a:path w="919086" h="919086">
                <a:moveTo>
                  <a:pt x="0" y="0"/>
                </a:moveTo>
                <a:lnTo>
                  <a:pt x="919086" y="0"/>
                </a:lnTo>
                <a:lnTo>
                  <a:pt x="919086" y="919086"/>
                </a:lnTo>
                <a:lnTo>
                  <a:pt x="0" y="9190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334801" y="3972704"/>
            <a:ext cx="6202519" cy="1798058"/>
            <a:chOff x="0" y="0"/>
            <a:chExt cx="1761584" cy="51066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761584" cy="510668"/>
            </a:xfrm>
            <a:custGeom>
              <a:avLst/>
              <a:gdLst/>
              <a:ahLst/>
              <a:cxnLst/>
              <a:rect l="l" t="t" r="r" b="b"/>
              <a:pathLst>
                <a:path w="1761584" h="510668">
                  <a:moveTo>
                    <a:pt x="63658" y="0"/>
                  </a:moveTo>
                  <a:lnTo>
                    <a:pt x="1697927" y="0"/>
                  </a:lnTo>
                  <a:cubicBezTo>
                    <a:pt x="1733084" y="0"/>
                    <a:pt x="1761584" y="28501"/>
                    <a:pt x="1761584" y="63658"/>
                  </a:cubicBezTo>
                  <a:lnTo>
                    <a:pt x="1761584" y="447011"/>
                  </a:lnTo>
                  <a:cubicBezTo>
                    <a:pt x="1761584" y="482168"/>
                    <a:pt x="1733084" y="510668"/>
                    <a:pt x="1697927" y="510668"/>
                  </a:cubicBezTo>
                  <a:lnTo>
                    <a:pt x="63658" y="510668"/>
                  </a:lnTo>
                  <a:cubicBezTo>
                    <a:pt x="28501" y="510668"/>
                    <a:pt x="0" y="482168"/>
                    <a:pt x="0" y="447011"/>
                  </a:cubicBezTo>
                  <a:lnTo>
                    <a:pt x="0" y="63658"/>
                  </a:lnTo>
                  <a:cubicBezTo>
                    <a:pt x="0" y="28501"/>
                    <a:pt x="28501" y="0"/>
                    <a:pt x="63658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1761584" cy="510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34801" y="2111236"/>
            <a:ext cx="6245858" cy="1794792"/>
            <a:chOff x="0" y="0"/>
            <a:chExt cx="1773893" cy="50974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73893" cy="509741"/>
            </a:xfrm>
            <a:custGeom>
              <a:avLst/>
              <a:gdLst/>
              <a:ahLst/>
              <a:cxnLst/>
              <a:rect l="l" t="t" r="r" b="b"/>
              <a:pathLst>
                <a:path w="1773893" h="509741">
                  <a:moveTo>
                    <a:pt x="63216" y="0"/>
                  </a:moveTo>
                  <a:lnTo>
                    <a:pt x="1710677" y="0"/>
                  </a:lnTo>
                  <a:cubicBezTo>
                    <a:pt x="1745591" y="0"/>
                    <a:pt x="1773893" y="28303"/>
                    <a:pt x="1773893" y="63216"/>
                  </a:cubicBezTo>
                  <a:lnTo>
                    <a:pt x="1773893" y="446525"/>
                  </a:lnTo>
                  <a:cubicBezTo>
                    <a:pt x="1773893" y="463291"/>
                    <a:pt x="1767233" y="479370"/>
                    <a:pt x="1755378" y="491225"/>
                  </a:cubicBezTo>
                  <a:cubicBezTo>
                    <a:pt x="1743522" y="503081"/>
                    <a:pt x="1727443" y="509741"/>
                    <a:pt x="1710677" y="509741"/>
                  </a:cubicBezTo>
                  <a:lnTo>
                    <a:pt x="63216" y="509741"/>
                  </a:lnTo>
                  <a:cubicBezTo>
                    <a:pt x="46450" y="509741"/>
                    <a:pt x="30371" y="503081"/>
                    <a:pt x="18516" y="491225"/>
                  </a:cubicBezTo>
                  <a:cubicBezTo>
                    <a:pt x="6660" y="479370"/>
                    <a:pt x="0" y="463291"/>
                    <a:pt x="0" y="446525"/>
                  </a:cubicBezTo>
                  <a:lnTo>
                    <a:pt x="0" y="63216"/>
                  </a:lnTo>
                  <a:cubicBezTo>
                    <a:pt x="0" y="46450"/>
                    <a:pt x="6660" y="30371"/>
                    <a:pt x="18516" y="18516"/>
                  </a:cubicBezTo>
                  <a:cubicBezTo>
                    <a:pt x="30371" y="6660"/>
                    <a:pt x="46450" y="0"/>
                    <a:pt x="63216" y="0"/>
                  </a:cubicBezTo>
                  <a:close/>
                </a:path>
              </a:pathLst>
            </a:custGeom>
            <a:solidFill>
              <a:srgbClr val="156082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1773893" cy="5097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6653" y="2306926"/>
            <a:ext cx="1436416" cy="1436416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867460" y="2527959"/>
            <a:ext cx="914801" cy="994349"/>
          </a:xfrm>
          <a:custGeom>
            <a:avLst/>
            <a:gdLst/>
            <a:ahLst/>
            <a:cxnLst/>
            <a:rect l="l" t="t" r="r" b="b"/>
            <a:pathLst>
              <a:path w="914801" h="994349">
                <a:moveTo>
                  <a:pt x="0" y="0"/>
                </a:moveTo>
                <a:lnTo>
                  <a:pt x="914801" y="0"/>
                </a:lnTo>
                <a:lnTo>
                  <a:pt x="914801" y="994349"/>
                </a:lnTo>
                <a:lnTo>
                  <a:pt x="0" y="9943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/>
          <p:cNvGrpSpPr/>
          <p:nvPr/>
        </p:nvGrpSpPr>
        <p:grpSpPr>
          <a:xfrm>
            <a:off x="606653" y="4177642"/>
            <a:ext cx="1436416" cy="1436416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>
            <a:off x="851504" y="4478762"/>
            <a:ext cx="946713" cy="853225"/>
          </a:xfrm>
          <a:custGeom>
            <a:avLst/>
            <a:gdLst/>
            <a:ahLst/>
            <a:cxnLst/>
            <a:rect l="l" t="t" r="r" b="b"/>
            <a:pathLst>
              <a:path w="946713" h="853225">
                <a:moveTo>
                  <a:pt x="0" y="0"/>
                </a:moveTo>
                <a:lnTo>
                  <a:pt x="946713" y="0"/>
                </a:lnTo>
                <a:lnTo>
                  <a:pt x="946713" y="853226"/>
                </a:lnTo>
                <a:lnTo>
                  <a:pt x="0" y="8532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334801" y="7721219"/>
            <a:ext cx="6202519" cy="1751278"/>
            <a:chOff x="0" y="0"/>
            <a:chExt cx="1761584" cy="49738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761584" cy="497382"/>
            </a:xfrm>
            <a:custGeom>
              <a:avLst/>
              <a:gdLst/>
              <a:ahLst/>
              <a:cxnLst/>
              <a:rect l="l" t="t" r="r" b="b"/>
              <a:pathLst>
                <a:path w="1761584" h="497382">
                  <a:moveTo>
                    <a:pt x="63658" y="0"/>
                  </a:moveTo>
                  <a:lnTo>
                    <a:pt x="1697927" y="0"/>
                  </a:lnTo>
                  <a:cubicBezTo>
                    <a:pt x="1733084" y="0"/>
                    <a:pt x="1761584" y="28501"/>
                    <a:pt x="1761584" y="63658"/>
                  </a:cubicBezTo>
                  <a:lnTo>
                    <a:pt x="1761584" y="433725"/>
                  </a:lnTo>
                  <a:cubicBezTo>
                    <a:pt x="1761584" y="468882"/>
                    <a:pt x="1733084" y="497382"/>
                    <a:pt x="1697927" y="497382"/>
                  </a:cubicBezTo>
                  <a:lnTo>
                    <a:pt x="63658" y="497382"/>
                  </a:lnTo>
                  <a:cubicBezTo>
                    <a:pt x="28501" y="497382"/>
                    <a:pt x="0" y="468882"/>
                    <a:pt x="0" y="433725"/>
                  </a:cubicBezTo>
                  <a:lnTo>
                    <a:pt x="0" y="63658"/>
                  </a:lnTo>
                  <a:cubicBezTo>
                    <a:pt x="0" y="28501"/>
                    <a:pt x="28501" y="0"/>
                    <a:pt x="63658" y="0"/>
                  </a:cubicBezTo>
                  <a:close/>
                </a:path>
              </a:pathLst>
            </a:custGeom>
            <a:solidFill>
              <a:srgbClr val="E38E0C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761584" cy="497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34801" y="5846961"/>
            <a:ext cx="6202519" cy="1798058"/>
            <a:chOff x="0" y="0"/>
            <a:chExt cx="1761584" cy="51066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761584" cy="510668"/>
            </a:xfrm>
            <a:custGeom>
              <a:avLst/>
              <a:gdLst/>
              <a:ahLst/>
              <a:cxnLst/>
              <a:rect l="l" t="t" r="r" b="b"/>
              <a:pathLst>
                <a:path w="1761584" h="510668">
                  <a:moveTo>
                    <a:pt x="63658" y="0"/>
                  </a:moveTo>
                  <a:lnTo>
                    <a:pt x="1697927" y="0"/>
                  </a:lnTo>
                  <a:cubicBezTo>
                    <a:pt x="1733084" y="0"/>
                    <a:pt x="1761584" y="28501"/>
                    <a:pt x="1761584" y="63658"/>
                  </a:cubicBezTo>
                  <a:lnTo>
                    <a:pt x="1761584" y="447011"/>
                  </a:lnTo>
                  <a:cubicBezTo>
                    <a:pt x="1761584" y="482168"/>
                    <a:pt x="1733084" y="510668"/>
                    <a:pt x="1697927" y="510668"/>
                  </a:cubicBezTo>
                  <a:lnTo>
                    <a:pt x="63658" y="510668"/>
                  </a:lnTo>
                  <a:cubicBezTo>
                    <a:pt x="28501" y="510668"/>
                    <a:pt x="0" y="482168"/>
                    <a:pt x="0" y="447011"/>
                  </a:cubicBezTo>
                  <a:lnTo>
                    <a:pt x="0" y="63658"/>
                  </a:lnTo>
                  <a:cubicBezTo>
                    <a:pt x="0" y="28501"/>
                    <a:pt x="28501" y="0"/>
                    <a:pt x="63658" y="0"/>
                  </a:cubicBezTo>
                  <a:close/>
                </a:path>
              </a:pathLst>
            </a:custGeom>
            <a:solidFill>
              <a:srgbClr val="6EAD4B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1761584" cy="510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3445" y="6008886"/>
            <a:ext cx="1436416" cy="1436416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881168" y="6221024"/>
            <a:ext cx="823418" cy="980259"/>
          </a:xfrm>
          <a:custGeom>
            <a:avLst/>
            <a:gdLst/>
            <a:ahLst/>
            <a:cxnLst/>
            <a:rect l="l" t="t" r="r" b="b"/>
            <a:pathLst>
              <a:path w="823418" h="980259">
                <a:moveTo>
                  <a:pt x="0" y="0"/>
                </a:moveTo>
                <a:lnTo>
                  <a:pt x="823418" y="0"/>
                </a:lnTo>
                <a:lnTo>
                  <a:pt x="823418" y="980259"/>
                </a:lnTo>
                <a:lnTo>
                  <a:pt x="0" y="98025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58" name="Group 58"/>
          <p:cNvGrpSpPr/>
          <p:nvPr/>
        </p:nvGrpSpPr>
        <p:grpSpPr>
          <a:xfrm>
            <a:off x="584194" y="7845431"/>
            <a:ext cx="1436416" cy="1436416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61" name="Freeform 61"/>
          <p:cNvSpPr/>
          <p:nvPr/>
        </p:nvSpPr>
        <p:spPr>
          <a:xfrm>
            <a:off x="893185" y="8144852"/>
            <a:ext cx="840883" cy="899340"/>
          </a:xfrm>
          <a:custGeom>
            <a:avLst/>
            <a:gdLst/>
            <a:ahLst/>
            <a:cxnLst/>
            <a:rect l="l" t="t" r="r" b="b"/>
            <a:pathLst>
              <a:path w="840883" h="899340">
                <a:moveTo>
                  <a:pt x="0" y="0"/>
                </a:moveTo>
                <a:lnTo>
                  <a:pt x="840882" y="0"/>
                </a:lnTo>
                <a:lnTo>
                  <a:pt x="840882" y="899339"/>
                </a:lnTo>
                <a:lnTo>
                  <a:pt x="0" y="89933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12096675" y="5365279"/>
            <a:ext cx="1056397" cy="1013537"/>
          </a:xfrm>
          <a:custGeom>
            <a:avLst/>
            <a:gdLst/>
            <a:ahLst/>
            <a:cxnLst/>
            <a:rect l="l" t="t" r="r" b="b"/>
            <a:pathLst>
              <a:path w="1056397" h="1013537">
                <a:moveTo>
                  <a:pt x="0" y="0"/>
                </a:moveTo>
                <a:lnTo>
                  <a:pt x="1056397" y="0"/>
                </a:lnTo>
                <a:lnTo>
                  <a:pt x="1056397" y="1013537"/>
                </a:lnTo>
                <a:lnTo>
                  <a:pt x="0" y="101353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10595963" y="5396479"/>
            <a:ext cx="900964" cy="900964"/>
          </a:xfrm>
          <a:custGeom>
            <a:avLst/>
            <a:gdLst/>
            <a:ahLst/>
            <a:cxnLst/>
            <a:rect l="l" t="t" r="r" b="b"/>
            <a:pathLst>
              <a:path w="900964" h="900964">
                <a:moveTo>
                  <a:pt x="0" y="0"/>
                </a:moveTo>
                <a:lnTo>
                  <a:pt x="900965" y="0"/>
                </a:lnTo>
                <a:lnTo>
                  <a:pt x="900965" y="900965"/>
                </a:lnTo>
                <a:lnTo>
                  <a:pt x="0" y="90096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64" name="TextBox 64"/>
          <p:cNvSpPr txBox="1"/>
          <p:nvPr/>
        </p:nvSpPr>
        <p:spPr>
          <a:xfrm rot="5400000">
            <a:off x="7933791" y="5119268"/>
            <a:ext cx="6158634" cy="31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6"/>
              </a:lnSpc>
            </a:pPr>
            <a:r>
              <a:rPr lang="en-US" sz="2550" b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BENTUK KEMITRAAN            DENGAN IKM</a:t>
            </a:r>
          </a:p>
        </p:txBody>
      </p:sp>
      <p:sp>
        <p:nvSpPr>
          <p:cNvPr id="65" name="Freeform 65"/>
          <p:cNvSpPr/>
          <p:nvPr/>
        </p:nvSpPr>
        <p:spPr>
          <a:xfrm>
            <a:off x="6527747" y="5380858"/>
            <a:ext cx="900964" cy="900964"/>
          </a:xfrm>
          <a:custGeom>
            <a:avLst/>
            <a:gdLst/>
            <a:ahLst/>
            <a:cxnLst/>
            <a:rect l="l" t="t" r="r" b="b"/>
            <a:pathLst>
              <a:path w="900964" h="900964">
                <a:moveTo>
                  <a:pt x="0" y="0"/>
                </a:moveTo>
                <a:lnTo>
                  <a:pt x="900964" y="0"/>
                </a:lnTo>
                <a:lnTo>
                  <a:pt x="900964" y="900964"/>
                </a:lnTo>
                <a:lnTo>
                  <a:pt x="0" y="90096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618025" y="275228"/>
            <a:ext cx="12107641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 b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Upaya yang sudah dilakukan untuk peningkatan daya saing IKM Perkakas Tangan dan Kerjasama yang sudah dilakukan dengan K/L dan </a:t>
            </a:r>
            <a:r>
              <a:rPr lang="en-US" sz="2750" b="1" i="1">
                <a:solidFill>
                  <a:srgbClr val="1E2D55"/>
                </a:solidFill>
                <a:latin typeface="Aptos Bold Italics"/>
                <a:ea typeface="Aptos Bold Italics"/>
                <a:cs typeface="Aptos Bold Italics"/>
                <a:sym typeface="Aptos Bold Italics"/>
              </a:rPr>
              <a:t>marketplace</a:t>
            </a:r>
            <a:r>
              <a:rPr lang="en-US" sz="2750" b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747072" y="5500613"/>
            <a:ext cx="2286179" cy="132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550" b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Kerja Sama / Kemitraan Terjalin</a:t>
            </a:r>
          </a:p>
        </p:txBody>
      </p:sp>
      <p:sp>
        <p:nvSpPr>
          <p:cNvPr id="68" name="TextBox 68"/>
          <p:cNvSpPr txBox="1"/>
          <p:nvPr/>
        </p:nvSpPr>
        <p:spPr>
          <a:xfrm rot="-5400000">
            <a:off x="5920930" y="4614246"/>
            <a:ext cx="2286179" cy="43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n-US" sz="2550" b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MITRA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3596274" y="2204762"/>
            <a:ext cx="4567564" cy="43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PENYEDIAAN PRODUK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593964" y="5039834"/>
            <a:ext cx="4567564" cy="43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PEMASARAN ONLINE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3651114" y="7348264"/>
            <a:ext cx="3878943" cy="664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255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PENYEDIAAN BAHAN BAKU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195468" y="2269832"/>
            <a:ext cx="4567564" cy="43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KEMENTERIAN/LEMBAGA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195468" y="4074029"/>
            <a:ext cx="4567564" cy="43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BUMN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571460" y="2725832"/>
            <a:ext cx="4186715" cy="2244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Penyediaan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Perkakas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Tangan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Pertanian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(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cangkul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sekop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dll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)</a:t>
            </a:r>
          </a:p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Penyediaan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Perkakas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Tangan Perkebunan (dodos,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egrek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pisau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sadap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karet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dll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)</a:t>
            </a:r>
          </a:p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Penyediaan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Alat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Potong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Hewan</a:t>
            </a:r>
            <a:endParaRPr lang="en-US" sz="2000" b="1" dirty="0">
              <a:solidFill>
                <a:srgbClr val="1E2D55"/>
              </a:solidFill>
              <a:latin typeface="Aptos Bold"/>
              <a:ea typeface="Aptos Bold"/>
              <a:cs typeface="Aptos Bold"/>
              <a:sym typeface="Aptos Bold"/>
            </a:endParaRPr>
          </a:p>
          <a:p>
            <a:pPr algn="l">
              <a:lnSpc>
                <a:spcPts val="3290"/>
              </a:lnSpc>
            </a:pPr>
            <a:endParaRPr lang="en-US" sz="2250" b="1" dirty="0">
              <a:solidFill>
                <a:srgbClr val="1E2D55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13571460" y="5559599"/>
            <a:ext cx="388613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371" lvl="1" indent="-253685" algn="l">
              <a:lnSpc>
                <a:spcPts val="2350"/>
              </a:lnSpc>
              <a:buFont typeface="Arial"/>
              <a:buChar char="•"/>
            </a:pP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Sentra dan IKM di Sumatera Utara, Riau,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Jawa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Barat,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Jawa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Tengah, DIY dan </a:t>
            </a:r>
            <a:r>
              <a:rPr lang="en-US" sz="20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Jawa</a:t>
            </a:r>
            <a:r>
              <a:rPr lang="en-US" sz="20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Timur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322067" y="8086389"/>
            <a:ext cx="4381739" cy="117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5781" lvl="1" indent="-242891" algn="l">
              <a:lnSpc>
                <a:spcPts val="2250"/>
              </a:lnSpc>
              <a:buFont typeface="Arial"/>
              <a:buChar char="•"/>
            </a:pP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PT. 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Mekar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Maju Jaya Abadi (Bandung)</a:t>
            </a:r>
          </a:p>
          <a:p>
            <a:pPr marL="485781" lvl="1" indent="-242891" algn="l">
              <a:lnSpc>
                <a:spcPts val="2250"/>
              </a:lnSpc>
              <a:buFont typeface="Arial"/>
              <a:buChar char="•"/>
            </a:pP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PT. 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Sarana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Panen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Perkasa (Medan)</a:t>
            </a:r>
          </a:p>
          <a:p>
            <a:pPr marL="485781" lvl="1" indent="-242891" algn="l">
              <a:lnSpc>
                <a:spcPts val="2250"/>
              </a:lnSpc>
              <a:buFont typeface="Arial"/>
              <a:buChar char="•"/>
            </a:pP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PT. 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Kanefusa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(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Cikarang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)</a:t>
            </a:r>
          </a:p>
          <a:p>
            <a:pPr marL="485781" lvl="1" indent="-242891" algn="l">
              <a:lnSpc>
                <a:spcPts val="2250"/>
              </a:lnSpc>
              <a:buFont typeface="Arial"/>
              <a:buChar char="•"/>
            </a:pP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CV. 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Mola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Maju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Basamo</a:t>
            </a:r>
            <a:r>
              <a:rPr lang="en-US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(Kampar)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219394" y="2805790"/>
            <a:ext cx="4186715" cy="88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Kementerian Pertanian</a:t>
            </a:r>
          </a:p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Kementerian Desa</a:t>
            </a:r>
          </a:p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Pemda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180836" y="4699968"/>
            <a:ext cx="4061210" cy="29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PT. Perkebunan Nusantara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195468" y="8319052"/>
            <a:ext cx="4210641" cy="59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PT. Indobaja Primamurni</a:t>
            </a:r>
          </a:p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PT. Jatim Taman Steel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195468" y="5948286"/>
            <a:ext cx="4567564" cy="43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 COMMERCE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180836" y="6433439"/>
            <a:ext cx="4061210" cy="1183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PT. Kawan Lama Sejahtera (AZKO)</a:t>
            </a:r>
          </a:p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Indotrading</a:t>
            </a:r>
          </a:p>
          <a:p>
            <a:pPr marL="485781" lvl="1" indent="-242891" algn="l">
              <a:lnSpc>
                <a:spcPts val="2385"/>
              </a:lnSpc>
              <a:buFont typeface="Arial"/>
              <a:buChar char="•"/>
            </a:pPr>
            <a:r>
              <a:rPr lang="en-US" sz="22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PaDi UMKM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2195468" y="7822544"/>
            <a:ext cx="4567564" cy="430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550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SWASTA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FA995-118B-61C9-4DD7-41E3A7D02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E59BA9-C725-62F0-87C9-F8AD978E4139}"/>
              </a:ext>
            </a:extLst>
          </p:cNvPr>
          <p:cNvGrpSpPr/>
          <p:nvPr/>
        </p:nvGrpSpPr>
        <p:grpSpPr>
          <a:xfrm rot="4875698">
            <a:off x="17120310" y="9981905"/>
            <a:ext cx="674561" cy="47625"/>
            <a:chOff x="0" y="0"/>
            <a:chExt cx="899414" cy="635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B8D0F68-C04B-D4DA-2394-836C9033DB05}"/>
                </a:ext>
              </a:extLst>
            </p:cNvPr>
            <p:cNvSpPr/>
            <p:nvPr/>
          </p:nvSpPr>
          <p:spPr>
            <a:xfrm>
              <a:off x="0" y="0"/>
              <a:ext cx="899414" cy="63500"/>
            </a:xfrm>
            <a:custGeom>
              <a:avLst/>
              <a:gdLst/>
              <a:ahLst/>
              <a:cxnLst/>
              <a:rect l="l" t="t" r="r" b="b"/>
              <a:pathLst>
                <a:path w="899414" h="63500">
                  <a:moveTo>
                    <a:pt x="31750" y="0"/>
                  </a:moveTo>
                  <a:lnTo>
                    <a:pt x="867664" y="0"/>
                  </a:lnTo>
                  <a:cubicBezTo>
                    <a:pt x="885190" y="0"/>
                    <a:pt x="899414" y="14224"/>
                    <a:pt x="899414" y="31750"/>
                  </a:cubicBezTo>
                  <a:cubicBezTo>
                    <a:pt x="899414" y="49276"/>
                    <a:pt x="885190" y="63500"/>
                    <a:pt x="867664" y="63500"/>
                  </a:cubicBezTo>
                  <a:lnTo>
                    <a:pt x="31750" y="63500"/>
                  </a:lnTo>
                  <a:cubicBezTo>
                    <a:pt x="14224" y="63500"/>
                    <a:pt x="0" y="49276"/>
                    <a:pt x="0" y="31750"/>
                  </a:cubicBezTo>
                  <a:cubicBezTo>
                    <a:pt x="0" y="14224"/>
                    <a:pt x="14224" y="0"/>
                    <a:pt x="31750" y="0"/>
                  </a:cubicBezTo>
                  <a:close/>
                </a:path>
              </a:pathLst>
            </a:custGeom>
            <a:solidFill>
              <a:srgbClr val="FFBE5C"/>
            </a:solid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EB6AA3F-DA75-5F60-AEF0-D6140BDFDFF7}"/>
              </a:ext>
            </a:extLst>
          </p:cNvPr>
          <p:cNvGrpSpPr/>
          <p:nvPr/>
        </p:nvGrpSpPr>
        <p:grpSpPr>
          <a:xfrm>
            <a:off x="48579" y="55701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8A0701A-1816-E449-4FE3-3D79FB1D856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DE021F2-6C25-E99F-0E74-DE41E26F3967}"/>
              </a:ext>
            </a:extLst>
          </p:cNvPr>
          <p:cNvGrpSpPr/>
          <p:nvPr/>
        </p:nvGrpSpPr>
        <p:grpSpPr>
          <a:xfrm>
            <a:off x="3314700" y="9678260"/>
            <a:ext cx="11658600" cy="467581"/>
            <a:chOff x="0" y="0"/>
            <a:chExt cx="15544800" cy="623442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9997409-1DBA-E240-41C4-F4C80D7CA4A5}"/>
                </a:ext>
              </a:extLst>
            </p:cNvPr>
            <p:cNvSpPr/>
            <p:nvPr/>
          </p:nvSpPr>
          <p:spPr>
            <a:xfrm>
              <a:off x="0" y="0"/>
              <a:ext cx="15544800" cy="623443"/>
            </a:xfrm>
            <a:custGeom>
              <a:avLst/>
              <a:gdLst/>
              <a:ahLst/>
              <a:cxnLst/>
              <a:rect l="l" t="t" r="r" b="b"/>
              <a:pathLst>
                <a:path w="15544800" h="623443">
                  <a:moveTo>
                    <a:pt x="0" y="0"/>
                  </a:moveTo>
                  <a:lnTo>
                    <a:pt x="15544800" y="0"/>
                  </a:lnTo>
                  <a:lnTo>
                    <a:pt x="15544800" y="623443"/>
                  </a:lnTo>
                  <a:lnTo>
                    <a:pt x="0" y="623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r="-1"/>
              </a:stretch>
            </a:blipFill>
          </p:spPr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E039D261-634A-3C0F-1182-4E6E44AAF63C}"/>
              </a:ext>
            </a:extLst>
          </p:cNvPr>
          <p:cNvGrpSpPr/>
          <p:nvPr/>
        </p:nvGrpSpPr>
        <p:grpSpPr>
          <a:xfrm>
            <a:off x="13129866" y="435095"/>
            <a:ext cx="4561808" cy="980981"/>
            <a:chOff x="0" y="0"/>
            <a:chExt cx="6082410" cy="1307974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1862EA8-EA60-0913-8B2B-E87208BE2405}"/>
                </a:ext>
              </a:extLst>
            </p:cNvPr>
            <p:cNvSpPr/>
            <p:nvPr/>
          </p:nvSpPr>
          <p:spPr>
            <a:xfrm>
              <a:off x="0" y="0"/>
              <a:ext cx="6082411" cy="1307973"/>
            </a:xfrm>
            <a:custGeom>
              <a:avLst/>
              <a:gdLst/>
              <a:ahLst/>
              <a:cxnLst/>
              <a:rect l="l" t="t" r="r" b="b"/>
              <a:pathLst>
                <a:path w="6082411" h="1307973">
                  <a:moveTo>
                    <a:pt x="0" y="0"/>
                  </a:moveTo>
                  <a:lnTo>
                    <a:pt x="6082411" y="0"/>
                  </a:lnTo>
                  <a:lnTo>
                    <a:pt x="6082411" y="1307973"/>
                  </a:lnTo>
                  <a:lnTo>
                    <a:pt x="0" y="1307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74" b="-474"/>
              </a:stretch>
            </a:blipFill>
          </p:spPr>
        </p:sp>
      </p:grpSp>
      <p:grpSp>
        <p:nvGrpSpPr>
          <p:cNvPr id="85" name="Group 29">
            <a:extLst>
              <a:ext uri="{FF2B5EF4-FFF2-40B4-BE49-F238E27FC236}">
                <a16:creationId xmlns:a16="http://schemas.microsoft.com/office/drawing/2014/main" id="{DCB5B74A-FCC2-93A9-46F9-4F6AD1F06D1F}"/>
              </a:ext>
            </a:extLst>
          </p:cNvPr>
          <p:cNvGrpSpPr/>
          <p:nvPr/>
        </p:nvGrpSpPr>
        <p:grpSpPr>
          <a:xfrm>
            <a:off x="-1" y="404490"/>
            <a:ext cx="12533541" cy="980980"/>
            <a:chOff x="0" y="0"/>
            <a:chExt cx="4914900" cy="6236970"/>
          </a:xfrm>
        </p:grpSpPr>
        <p:sp>
          <p:nvSpPr>
            <p:cNvPr id="86" name="Freeform 30">
              <a:extLst>
                <a:ext uri="{FF2B5EF4-FFF2-40B4-BE49-F238E27FC236}">
                  <a16:creationId xmlns:a16="http://schemas.microsoft.com/office/drawing/2014/main" id="{8285DC0C-7B4C-6358-DAED-3F89089A01B1}"/>
                </a:ext>
              </a:extLst>
            </p:cNvPr>
            <p:cNvSpPr/>
            <p:nvPr/>
          </p:nvSpPr>
          <p:spPr>
            <a:xfrm>
              <a:off x="19050" y="19050"/>
              <a:ext cx="4876800" cy="6198870"/>
            </a:xfrm>
            <a:custGeom>
              <a:avLst/>
              <a:gdLst/>
              <a:ahLst/>
              <a:cxnLst/>
              <a:rect l="l" t="t" r="r" b="b"/>
              <a:pathLst>
                <a:path w="4876800" h="6198870">
                  <a:moveTo>
                    <a:pt x="0" y="0"/>
                  </a:moveTo>
                  <a:lnTo>
                    <a:pt x="4876800" y="0"/>
                  </a:lnTo>
                  <a:lnTo>
                    <a:pt x="4876800" y="6198870"/>
                  </a:lnTo>
                  <a:lnTo>
                    <a:pt x="0" y="6198870"/>
                  </a:lnTo>
                  <a:close/>
                </a:path>
              </a:pathLst>
            </a:custGeom>
            <a:solidFill>
              <a:srgbClr val="0E2841"/>
            </a:solidFill>
          </p:spPr>
        </p:sp>
        <p:sp>
          <p:nvSpPr>
            <p:cNvPr id="87" name="Freeform 31">
              <a:extLst>
                <a:ext uri="{FF2B5EF4-FFF2-40B4-BE49-F238E27FC236}">
                  <a16:creationId xmlns:a16="http://schemas.microsoft.com/office/drawing/2014/main" id="{BFA28E9C-F097-B2A7-19E6-9452100AE5B5}"/>
                </a:ext>
              </a:extLst>
            </p:cNvPr>
            <p:cNvSpPr/>
            <p:nvPr/>
          </p:nvSpPr>
          <p:spPr>
            <a:xfrm>
              <a:off x="0" y="0"/>
              <a:ext cx="4914900" cy="6236970"/>
            </a:xfrm>
            <a:custGeom>
              <a:avLst/>
              <a:gdLst/>
              <a:ahLst/>
              <a:cxnLst/>
              <a:rect l="l" t="t" r="r" b="b"/>
              <a:pathLst>
                <a:path w="4914900" h="6236970">
                  <a:moveTo>
                    <a:pt x="19050" y="0"/>
                  </a:moveTo>
                  <a:lnTo>
                    <a:pt x="4895850" y="0"/>
                  </a:lnTo>
                  <a:cubicBezTo>
                    <a:pt x="4906391" y="0"/>
                    <a:pt x="4914900" y="8509"/>
                    <a:pt x="4914900" y="19050"/>
                  </a:cubicBezTo>
                  <a:lnTo>
                    <a:pt x="4914900" y="6217920"/>
                  </a:lnTo>
                  <a:cubicBezTo>
                    <a:pt x="4914900" y="6228461"/>
                    <a:pt x="4906391" y="6236970"/>
                    <a:pt x="4895850" y="6236970"/>
                  </a:cubicBezTo>
                  <a:lnTo>
                    <a:pt x="19050" y="6236970"/>
                  </a:lnTo>
                  <a:cubicBezTo>
                    <a:pt x="8509" y="6236970"/>
                    <a:pt x="0" y="6228461"/>
                    <a:pt x="0" y="6217920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6217920"/>
                  </a:lnTo>
                  <a:lnTo>
                    <a:pt x="19050" y="6217920"/>
                  </a:lnTo>
                  <a:lnTo>
                    <a:pt x="19050" y="6198870"/>
                  </a:lnTo>
                  <a:lnTo>
                    <a:pt x="4895850" y="6198870"/>
                  </a:lnTo>
                  <a:lnTo>
                    <a:pt x="4895850" y="6217920"/>
                  </a:lnTo>
                  <a:lnTo>
                    <a:pt x="4876800" y="6217920"/>
                  </a:lnTo>
                  <a:lnTo>
                    <a:pt x="4876800" y="19050"/>
                  </a:lnTo>
                  <a:lnTo>
                    <a:pt x="4895850" y="19050"/>
                  </a:lnTo>
                  <a:lnTo>
                    <a:pt x="48958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1E5F5"/>
            </a:solidFill>
          </p:spPr>
        </p:sp>
        <p:sp>
          <p:nvSpPr>
            <p:cNvPr id="88" name="TextBox 32">
              <a:extLst>
                <a:ext uri="{FF2B5EF4-FFF2-40B4-BE49-F238E27FC236}">
                  <a16:creationId xmlns:a16="http://schemas.microsoft.com/office/drawing/2014/main" id="{CE138B6B-A8D5-A0AF-A912-EBBE1F0DD624}"/>
                </a:ext>
              </a:extLst>
            </p:cNvPr>
            <p:cNvSpPr txBox="1"/>
            <p:nvPr/>
          </p:nvSpPr>
          <p:spPr>
            <a:xfrm>
              <a:off x="0" y="0"/>
              <a:ext cx="4914900" cy="6236970"/>
            </a:xfrm>
            <a:prstGeom prst="rect">
              <a:avLst/>
            </a:prstGeom>
          </p:spPr>
          <p:txBody>
            <a:bodyPr lIns="190500" tIns="190500" rIns="190500" bIns="190500" rtlCol="0" anchor="t"/>
            <a:lstStyle/>
            <a:p>
              <a:pPr marL="199073" lvl="1" algn="just">
                <a:lnSpc>
                  <a:spcPts val="2639"/>
                </a:lnSpc>
              </a:pPr>
              <a:endParaRPr lang="en-US" sz="2199">
                <a:solidFill>
                  <a:srgbClr val="DCEAF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66" name="TextBox 66">
            <a:extLst>
              <a:ext uri="{FF2B5EF4-FFF2-40B4-BE49-F238E27FC236}">
                <a16:creationId xmlns:a16="http://schemas.microsoft.com/office/drawing/2014/main" id="{592F4C3E-D7FE-29B0-AB61-5895FFA5077A}"/>
              </a:ext>
            </a:extLst>
          </p:cNvPr>
          <p:cNvSpPr txBox="1"/>
          <p:nvPr/>
        </p:nvSpPr>
        <p:spPr>
          <a:xfrm>
            <a:off x="1045366" y="689174"/>
            <a:ext cx="11658600" cy="517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4000" b="1">
                <a:solidFill>
                  <a:schemeClr val="bg1"/>
                </a:solidFill>
                <a:latin typeface="Aptos Bold"/>
                <a:ea typeface="Aptos Bold"/>
                <a:cs typeface="Aptos Bold"/>
                <a:sym typeface="Aptos Bold"/>
              </a:rPr>
              <a:t>TANTANGAN INDUSTRI PERKAKAS TANGAN</a:t>
            </a:r>
          </a:p>
        </p:txBody>
      </p:sp>
      <p:sp>
        <p:nvSpPr>
          <p:cNvPr id="89" name="TextBox 75">
            <a:extLst>
              <a:ext uri="{FF2B5EF4-FFF2-40B4-BE49-F238E27FC236}">
                <a16:creationId xmlns:a16="http://schemas.microsoft.com/office/drawing/2014/main" id="{807E2F17-8F78-4289-ADCF-AECA7E17DD31}"/>
              </a:ext>
            </a:extLst>
          </p:cNvPr>
          <p:cNvSpPr txBox="1"/>
          <p:nvPr/>
        </p:nvSpPr>
        <p:spPr>
          <a:xfrm>
            <a:off x="2378865" y="3101344"/>
            <a:ext cx="12594434" cy="945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3686" lvl="1" algn="l">
              <a:lnSpc>
                <a:spcPts val="2350"/>
              </a:lnSpc>
            </a:pP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Masih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terbatasnya</a:t>
            </a:r>
            <a:r>
              <a:rPr lang="en-US" sz="2800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ketersediaan</a:t>
            </a:r>
            <a:r>
              <a:rPr lang="en-US" sz="2800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bahan</a:t>
            </a:r>
            <a:r>
              <a:rPr lang="en-US" sz="2800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baku</a:t>
            </a:r>
            <a:r>
              <a:rPr lang="en-US" sz="2800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dalam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negeri,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khususnya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untuk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special steel</a:t>
            </a:r>
            <a:r>
              <a:rPr lang="en-US" sz="2800" b="1" i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dengan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komposisi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dan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kandungan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karbon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tertentu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yang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banyak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pengaplikasiannya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pada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industri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perkakas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tangan</a:t>
            </a:r>
            <a:endParaRPr lang="en-US" sz="2800" b="1" dirty="0">
              <a:solidFill>
                <a:srgbClr val="1E2D55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90" name="TextBox 75">
            <a:extLst>
              <a:ext uri="{FF2B5EF4-FFF2-40B4-BE49-F238E27FC236}">
                <a16:creationId xmlns:a16="http://schemas.microsoft.com/office/drawing/2014/main" id="{11B556AD-106D-26D3-24A1-39B32782B9E6}"/>
              </a:ext>
            </a:extLst>
          </p:cNvPr>
          <p:cNvSpPr txBox="1"/>
          <p:nvPr/>
        </p:nvSpPr>
        <p:spPr>
          <a:xfrm>
            <a:off x="2378865" y="5274562"/>
            <a:ext cx="12594434" cy="63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3686" lvl="1" algn="l">
              <a:lnSpc>
                <a:spcPts val="2350"/>
              </a:lnSpc>
            </a:pP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Masih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beredarnya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produk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perkakas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tangan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asal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impor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di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dalam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negeri yang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diduga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ilegal</a:t>
            </a:r>
            <a:endParaRPr lang="en-US" sz="2800" b="1" dirty="0">
              <a:solidFill>
                <a:srgbClr val="FF0000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91" name="TextBox 75">
            <a:extLst>
              <a:ext uri="{FF2B5EF4-FFF2-40B4-BE49-F238E27FC236}">
                <a16:creationId xmlns:a16="http://schemas.microsoft.com/office/drawing/2014/main" id="{2E202167-6277-CBB2-8612-92616275A159}"/>
              </a:ext>
            </a:extLst>
          </p:cNvPr>
          <p:cNvSpPr txBox="1"/>
          <p:nvPr/>
        </p:nvSpPr>
        <p:spPr>
          <a:xfrm>
            <a:off x="2378865" y="7162242"/>
            <a:ext cx="12589438" cy="638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3686" lvl="1" algn="l">
              <a:lnSpc>
                <a:spcPts val="2350"/>
              </a:lnSpc>
            </a:pP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Perkembangan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teknologi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maupun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pasar yang sangat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dinamis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,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membutuhkan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biaya</a:t>
            </a:r>
            <a:r>
              <a:rPr lang="en-US" sz="2800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investasi</a:t>
            </a:r>
            <a:r>
              <a:rPr lang="en-US" sz="2800" b="1" dirty="0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Aptos Bold"/>
                <a:ea typeface="Aptos Bold"/>
                <a:cs typeface="Aptos Bold"/>
                <a:sym typeface="Aptos Bold"/>
              </a:rPr>
              <a:t>besar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untuk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beradaptasi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dan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melakukan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inovasi</a:t>
            </a:r>
            <a:r>
              <a:rPr lang="en-US" sz="2800" b="1" dirty="0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 </a:t>
            </a:r>
            <a:r>
              <a:rPr lang="en-US" sz="2800" b="1" dirty="0" err="1">
                <a:solidFill>
                  <a:srgbClr val="1E2D55"/>
                </a:solidFill>
                <a:latin typeface="Aptos Bold"/>
                <a:ea typeface="Aptos Bold"/>
                <a:cs typeface="Aptos Bold"/>
                <a:sym typeface="Aptos Bold"/>
              </a:rPr>
              <a:t>produk</a:t>
            </a:r>
            <a:endParaRPr lang="en-US" sz="2800" b="1" dirty="0">
              <a:solidFill>
                <a:srgbClr val="1E2D55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CFBD2186-6396-0105-96C4-22AECB3E124F}"/>
              </a:ext>
            </a:extLst>
          </p:cNvPr>
          <p:cNvSpPr/>
          <p:nvPr/>
        </p:nvSpPr>
        <p:spPr>
          <a:xfrm>
            <a:off x="2133600" y="2912190"/>
            <a:ext cx="13411200" cy="1268055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324BB94-F941-6700-50A0-35D80012F6FA}"/>
              </a:ext>
            </a:extLst>
          </p:cNvPr>
          <p:cNvSpPr/>
          <p:nvPr/>
        </p:nvSpPr>
        <p:spPr>
          <a:xfrm>
            <a:off x="2133600" y="4908667"/>
            <a:ext cx="13411200" cy="1268055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0DE6432-B0DA-817C-D019-0D0757C449E8}"/>
              </a:ext>
            </a:extLst>
          </p:cNvPr>
          <p:cNvSpPr/>
          <p:nvPr/>
        </p:nvSpPr>
        <p:spPr>
          <a:xfrm>
            <a:off x="2133600" y="6847245"/>
            <a:ext cx="13411200" cy="1268055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4D1747-3C43-CFA3-353D-738672AC5751}"/>
              </a:ext>
            </a:extLst>
          </p:cNvPr>
          <p:cNvSpPr txBox="1"/>
          <p:nvPr/>
        </p:nvSpPr>
        <p:spPr>
          <a:xfrm>
            <a:off x="1306915" y="2287173"/>
            <a:ext cx="763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ln w="0">
                  <a:solidFill>
                    <a:schemeClr val="tx2"/>
                  </a:solidFill>
                </a:ln>
                <a:noFill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1</a:t>
            </a:r>
            <a:endParaRPr lang="en-ID" sz="7200" b="1">
              <a:ln w="0">
                <a:solidFill>
                  <a:schemeClr val="tx2"/>
                </a:solidFill>
              </a:ln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8EEFDE-8618-CAC6-8F6A-C0CA3234F4FC}"/>
              </a:ext>
            </a:extLst>
          </p:cNvPr>
          <p:cNvSpPr txBox="1"/>
          <p:nvPr/>
        </p:nvSpPr>
        <p:spPr>
          <a:xfrm>
            <a:off x="1304387" y="4159688"/>
            <a:ext cx="7636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ln w="0">
                  <a:solidFill>
                    <a:schemeClr val="tx2"/>
                  </a:solidFill>
                </a:ln>
                <a:noFill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2</a:t>
            </a:r>
            <a:endParaRPr lang="en-ID" sz="7200" b="1">
              <a:ln w="0">
                <a:solidFill>
                  <a:schemeClr val="tx2"/>
                </a:solidFill>
              </a:ln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FA5D383-65CD-7E1D-5EF7-FE1817008A59}"/>
              </a:ext>
            </a:extLst>
          </p:cNvPr>
          <p:cNvSpPr txBox="1"/>
          <p:nvPr/>
        </p:nvSpPr>
        <p:spPr>
          <a:xfrm>
            <a:off x="1322515" y="6149650"/>
            <a:ext cx="7299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>
                <a:ln w="0">
                  <a:solidFill>
                    <a:schemeClr val="tx2"/>
                  </a:solidFill>
                </a:ln>
                <a:noFill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3</a:t>
            </a:r>
            <a:endParaRPr lang="en-ID" sz="7200" b="1">
              <a:ln w="0">
                <a:solidFill>
                  <a:schemeClr val="tx2"/>
                </a:solidFill>
              </a:ln>
              <a:noFill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AE46BFF-CD67-8869-D5D3-21FA5530E2CA}"/>
              </a:ext>
            </a:extLst>
          </p:cNvPr>
          <p:cNvSpPr txBox="1"/>
          <p:nvPr/>
        </p:nvSpPr>
        <p:spPr>
          <a:xfrm>
            <a:off x="1838184" y="1292193"/>
            <a:ext cx="76364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b="1">
                <a:ln w="0">
                  <a:solidFill>
                    <a:schemeClr val="tx2"/>
                  </a:solidFill>
                </a:ln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.</a:t>
            </a:r>
            <a:endParaRPr lang="en-ID" sz="15000" b="1">
              <a:ln w="0">
                <a:solidFill>
                  <a:schemeClr val="tx2"/>
                </a:solidFill>
              </a:ln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6BE6991-4B5B-8318-DF68-7CB774E8F480}"/>
              </a:ext>
            </a:extLst>
          </p:cNvPr>
          <p:cNvSpPr txBox="1"/>
          <p:nvPr/>
        </p:nvSpPr>
        <p:spPr>
          <a:xfrm>
            <a:off x="1838184" y="3169070"/>
            <a:ext cx="76364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b="1">
                <a:ln w="0">
                  <a:solidFill>
                    <a:schemeClr val="tx2"/>
                  </a:solidFill>
                </a:ln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.</a:t>
            </a:r>
            <a:endParaRPr lang="en-ID" sz="15000" b="1">
              <a:ln w="0">
                <a:solidFill>
                  <a:schemeClr val="tx2"/>
                </a:solidFill>
              </a:ln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495BEB0-5B7F-4219-0363-830AB2E0A9F6}"/>
              </a:ext>
            </a:extLst>
          </p:cNvPr>
          <p:cNvSpPr txBox="1"/>
          <p:nvPr/>
        </p:nvSpPr>
        <p:spPr>
          <a:xfrm>
            <a:off x="1838184" y="5162449"/>
            <a:ext cx="76364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b="1">
                <a:ln w="0">
                  <a:solidFill>
                    <a:schemeClr val="tx2"/>
                  </a:solidFill>
                </a:ln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.</a:t>
            </a:r>
            <a:endParaRPr lang="en-ID" sz="15000" b="1">
              <a:ln w="0">
                <a:solidFill>
                  <a:schemeClr val="tx2"/>
                </a:solidFill>
              </a:ln>
              <a:solidFill>
                <a:schemeClr val="tx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371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446</Words>
  <Application>Microsoft Office PowerPoint</Application>
  <PresentationFormat>Custom</PresentationFormat>
  <Paragraphs>81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Calibri</vt:lpstr>
      <vt:lpstr>Arial</vt:lpstr>
      <vt:lpstr>Aptos</vt:lpstr>
      <vt:lpstr>Arial Bold</vt:lpstr>
      <vt:lpstr>Maven Pro Bold</vt:lpstr>
      <vt:lpstr>Aptos Italics</vt:lpstr>
      <vt:lpstr>Aptos Bold</vt:lpstr>
      <vt:lpstr>Aptos Bold Italics</vt:lpstr>
      <vt:lpstr>72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Upaya yang sudah dilakukan untuk peningkatan daya saing IKM dan Kerjasama yang sudah dilakukan dengan K/L dan marketplace</dc:title>
  <dc:creator>ASUS</dc:creator>
  <cp:lastModifiedBy>Adhe Aries Priatna</cp:lastModifiedBy>
  <cp:revision>6</cp:revision>
  <dcterms:created xsi:type="dcterms:W3CDTF">2006-08-16T00:00:00Z</dcterms:created>
  <dcterms:modified xsi:type="dcterms:W3CDTF">2025-11-11T04:17:06Z</dcterms:modified>
  <dc:identifier>DAG4RP15DnM</dc:identifier>
</cp:coreProperties>
</file>